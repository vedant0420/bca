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71" r:id="rId2"/>
    <p:sldId id="272" r:id="rId3"/>
    <p:sldId id="273" r:id="rId4"/>
    <p:sldId id="274" r:id="rId5"/>
    <p:sldId id="275" r:id="rId6"/>
    <p:sldId id="276" r:id="rId7"/>
    <p:sldId id="256" r:id="rId8"/>
    <p:sldId id="258" r:id="rId9"/>
    <p:sldId id="261" r:id="rId10"/>
    <p:sldId id="262" r:id="rId11"/>
    <p:sldId id="264" r:id="rId12"/>
    <p:sldId id="266" r:id="rId13"/>
    <p:sldId id="268" r:id="rId14"/>
    <p:sldId id="260" r:id="rId15"/>
    <p:sldId id="259" r:id="rId16"/>
    <p:sldId id="277" r:id="rId17"/>
    <p:sldId id="269" r:id="rId18"/>
    <p:sldId id="270" r:id="rId19"/>
    <p:sldId id="267" r:id="rId20"/>
    <p:sldId id="278" r:id="rId21"/>
    <p:sldId id="279" r:id="rId22"/>
    <p:sldId id="280" r:id="rId23"/>
    <p:sldId id="281" r:id="rId24"/>
    <p:sldId id="282" r:id="rId25"/>
    <p:sldId id="283" r:id="rId26"/>
    <p:sldId id="289" r:id="rId27"/>
    <p:sldId id="290" r:id="rId28"/>
    <p:sldId id="291" r:id="rId29"/>
    <p:sldId id="292" r:id="rId30"/>
    <p:sldId id="293" r:id="rId31"/>
    <p:sldId id="294" r:id="rId32"/>
    <p:sldId id="295" r:id="rId33"/>
    <p:sldId id="296" r:id="rId34"/>
    <p:sldId id="298" r:id="rId35"/>
    <p:sldId id="287" r:id="rId36"/>
    <p:sldId id="297" r:id="rId37"/>
    <p:sldId id="299" r:id="rId38"/>
    <p:sldId id="300" r:id="rId39"/>
    <p:sldId id="301" r:id="rId40"/>
    <p:sldId id="303" r:id="rId41"/>
    <p:sldId id="302"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91" autoAdjust="0"/>
    <p:restoredTop sz="94660"/>
  </p:normalViewPr>
  <p:slideViewPr>
    <p:cSldViewPr snapToGrid="0">
      <p:cViewPr varScale="1">
        <p:scale>
          <a:sx n="70" d="100"/>
          <a:sy n="70" d="100"/>
        </p:scale>
        <p:origin x="67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7E4F4D52-908C-44F3-A73C-69D912B9B7AC}" type="datetimeFigureOut">
              <a:rPr lang="en-US" smtClean="0"/>
              <a:t>1/25/2025</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D1AB8B6E-3158-4FDA-8437-E90953128058}" type="slidenum">
              <a:rPr lang="en-US" smtClean="0"/>
              <a:t>‹#›</a:t>
            </a:fld>
            <a:endParaRPr lang="en-US"/>
          </a:p>
        </p:txBody>
      </p:sp>
    </p:spTree>
    <p:extLst>
      <p:ext uri="{BB962C8B-B14F-4D97-AF65-F5344CB8AC3E}">
        <p14:creationId xmlns:p14="http://schemas.microsoft.com/office/powerpoint/2010/main" val="1564192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4F4D52-908C-44F3-A73C-69D912B9B7AC}"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AB8B6E-3158-4FDA-8437-E90953128058}" type="slidenum">
              <a:rPr lang="en-US" smtClean="0"/>
              <a:t>‹#›</a:t>
            </a:fld>
            <a:endParaRPr lang="en-US"/>
          </a:p>
        </p:txBody>
      </p:sp>
    </p:spTree>
    <p:extLst>
      <p:ext uri="{BB962C8B-B14F-4D97-AF65-F5344CB8AC3E}">
        <p14:creationId xmlns:p14="http://schemas.microsoft.com/office/powerpoint/2010/main" val="1144660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4F4D52-908C-44F3-A73C-69D912B9B7AC}"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AB8B6E-3158-4FDA-8437-E90953128058}" type="slidenum">
              <a:rPr lang="en-US" smtClean="0"/>
              <a:t>‹#›</a:t>
            </a:fld>
            <a:endParaRPr lang="en-US"/>
          </a:p>
        </p:txBody>
      </p:sp>
    </p:spTree>
    <p:extLst>
      <p:ext uri="{BB962C8B-B14F-4D97-AF65-F5344CB8AC3E}">
        <p14:creationId xmlns:p14="http://schemas.microsoft.com/office/powerpoint/2010/main" val="1155058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4F4D52-908C-44F3-A73C-69D912B9B7AC}"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AB8B6E-3158-4FDA-8437-E90953128058}" type="slidenum">
              <a:rPr lang="en-US" smtClean="0"/>
              <a:t>‹#›</a:t>
            </a:fld>
            <a:endParaRPr lang="en-US"/>
          </a:p>
        </p:txBody>
      </p:sp>
    </p:spTree>
    <p:extLst>
      <p:ext uri="{BB962C8B-B14F-4D97-AF65-F5344CB8AC3E}">
        <p14:creationId xmlns:p14="http://schemas.microsoft.com/office/powerpoint/2010/main" val="3135769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4F4D52-908C-44F3-A73C-69D912B9B7AC}" type="datetimeFigureOut">
              <a:rPr lang="en-US" smtClean="0"/>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AB8B6E-3158-4FDA-8437-E90953128058}" type="slidenum">
              <a:rPr lang="en-US" smtClean="0"/>
              <a:t>‹#›</a:t>
            </a:fld>
            <a:endParaRPr lang="en-US"/>
          </a:p>
        </p:txBody>
      </p:sp>
    </p:spTree>
    <p:extLst>
      <p:ext uri="{BB962C8B-B14F-4D97-AF65-F5344CB8AC3E}">
        <p14:creationId xmlns:p14="http://schemas.microsoft.com/office/powerpoint/2010/main" val="1737616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4F4D52-908C-44F3-A73C-69D912B9B7AC}" type="datetimeFigureOut">
              <a:rPr lang="en-US" smtClean="0"/>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AB8B6E-3158-4FDA-8437-E90953128058}" type="slidenum">
              <a:rPr lang="en-US" smtClean="0"/>
              <a:t>‹#›</a:t>
            </a:fld>
            <a:endParaRPr lang="en-US"/>
          </a:p>
        </p:txBody>
      </p:sp>
    </p:spTree>
    <p:extLst>
      <p:ext uri="{BB962C8B-B14F-4D97-AF65-F5344CB8AC3E}">
        <p14:creationId xmlns:p14="http://schemas.microsoft.com/office/powerpoint/2010/main" val="3421929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4F4D52-908C-44F3-A73C-69D912B9B7AC}" type="datetimeFigureOut">
              <a:rPr lang="en-US" smtClean="0"/>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AB8B6E-3158-4FDA-8437-E90953128058}" type="slidenum">
              <a:rPr lang="en-US" smtClean="0"/>
              <a:t>‹#›</a:t>
            </a:fld>
            <a:endParaRPr lang="en-US"/>
          </a:p>
        </p:txBody>
      </p:sp>
    </p:spTree>
    <p:extLst>
      <p:ext uri="{BB962C8B-B14F-4D97-AF65-F5344CB8AC3E}">
        <p14:creationId xmlns:p14="http://schemas.microsoft.com/office/powerpoint/2010/main" val="202190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7E4F4D52-908C-44F3-A73C-69D912B9B7AC}"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D1AB8B6E-3158-4FDA-8437-E90953128058}" type="slidenum">
              <a:rPr lang="en-US" smtClean="0"/>
              <a:t>‹#›</a:t>
            </a:fld>
            <a:endParaRPr lang="en-US"/>
          </a:p>
        </p:txBody>
      </p:sp>
    </p:spTree>
    <p:extLst>
      <p:ext uri="{BB962C8B-B14F-4D97-AF65-F5344CB8AC3E}">
        <p14:creationId xmlns:p14="http://schemas.microsoft.com/office/powerpoint/2010/main" val="1379091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7E4F4D52-908C-44F3-A73C-69D912B9B7AC}" type="datetimeFigureOut">
              <a:rPr lang="en-US" smtClean="0"/>
              <a:t>1/25/2025</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D1AB8B6E-3158-4FDA-8437-E90953128058}" type="slidenum">
              <a:rPr lang="en-US" smtClean="0"/>
              <a:t>‹#›</a:t>
            </a:fld>
            <a:endParaRPr lang="en-US"/>
          </a:p>
        </p:txBody>
      </p:sp>
    </p:spTree>
    <p:extLst>
      <p:ext uri="{BB962C8B-B14F-4D97-AF65-F5344CB8AC3E}">
        <p14:creationId xmlns:p14="http://schemas.microsoft.com/office/powerpoint/2010/main" val="148534807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4F4D52-908C-44F3-A73C-69D912B9B7AC}"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AB8B6E-3158-4FDA-8437-E90953128058}" type="slidenum">
              <a:rPr lang="en-US" smtClean="0"/>
              <a:t>‹#›</a:t>
            </a:fld>
            <a:endParaRPr lang="en-US"/>
          </a:p>
        </p:txBody>
      </p:sp>
    </p:spTree>
    <p:extLst>
      <p:ext uri="{BB962C8B-B14F-4D97-AF65-F5344CB8AC3E}">
        <p14:creationId xmlns:p14="http://schemas.microsoft.com/office/powerpoint/2010/main" val="342486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4F4D52-908C-44F3-A73C-69D912B9B7AC}"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AB8B6E-3158-4FDA-8437-E90953128058}" type="slidenum">
              <a:rPr lang="en-US" smtClean="0"/>
              <a:t>‹#›</a:t>
            </a:fld>
            <a:endParaRPr lang="en-US"/>
          </a:p>
        </p:txBody>
      </p:sp>
    </p:spTree>
    <p:extLst>
      <p:ext uri="{BB962C8B-B14F-4D97-AF65-F5344CB8AC3E}">
        <p14:creationId xmlns:p14="http://schemas.microsoft.com/office/powerpoint/2010/main" val="2633126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7E4F4D52-908C-44F3-A73C-69D912B9B7AC}" type="datetimeFigureOut">
              <a:rPr lang="en-US" smtClean="0"/>
              <a:t>1/25/2025</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D1AB8B6E-3158-4FDA-8437-E90953128058}" type="slidenum">
              <a:rPr lang="en-US" smtClean="0"/>
              <a:t>‹#›</a:t>
            </a:fld>
            <a:endParaRPr lang="en-US"/>
          </a:p>
        </p:txBody>
      </p:sp>
    </p:spTree>
    <p:extLst>
      <p:ext uri="{BB962C8B-B14F-4D97-AF65-F5344CB8AC3E}">
        <p14:creationId xmlns:p14="http://schemas.microsoft.com/office/powerpoint/2010/main" val="346058826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searchservervirtualization.techtarget.com/feature/Memory-management-techniques-you-should-remember" TargetMode="External"/><Relationship Id="rId2" Type="http://schemas.openxmlformats.org/officeDocument/2006/relationships/hyperlink" Target="https://searchstorage.techtarget.com/definition/RAM-random-access-memory"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geeksforgeeks.org/random-access-memory-ram-and-read-only-memory-rom/" TargetMode="External"/><Relationship Id="rId2" Type="http://schemas.openxmlformats.org/officeDocument/2006/relationships/hyperlink" Target="https://www.geeksforgeeks.org/memory-hierarchy-design-and-its-characteristics/?utm_source=chatgpt.com" TargetMode="External"/><Relationship Id="rId1" Type="http://schemas.openxmlformats.org/officeDocument/2006/relationships/slideLayout" Target="../slideLayouts/slideLayout2.xml"/><Relationship Id="rId4" Type="http://schemas.openxmlformats.org/officeDocument/2006/relationships/hyperlink" Target="https://www.geeksforgeeks.org/direct-memory-access-dma-controller-in-computer-architectur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7931" y="332322"/>
            <a:ext cx="7416137" cy="4222087"/>
          </a:xfrm>
        </p:spPr>
        <p:txBody>
          <a:bodyPr vert="horz" lIns="91440" tIns="45720" rIns="91440" bIns="45720" rtlCol="0" anchor="t">
            <a:normAutofit/>
          </a:bodyPr>
          <a:lstStyle/>
          <a:p>
            <a:pPr marR="64770"/>
            <a:r>
              <a:rPr lang="en-US" sz="4100" dirty="0">
                <a:solidFill>
                  <a:schemeClr val="tx1"/>
                </a:solidFill>
                <a:effectLst/>
                <a:latin typeface="Times New Roman" panose="02020603050405020304" pitchFamily="18" charset="0"/>
                <a:cs typeface="Times New Roman" panose="02020603050405020304" pitchFamily="18" charset="0"/>
              </a:rPr>
              <a:t>Unit 2 : Memory Organization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82968678"/>
              </p:ext>
            </p:extLst>
          </p:nvPr>
        </p:nvGraphicFramePr>
        <p:xfrm>
          <a:off x="1407740" y="1329954"/>
          <a:ext cx="8855375" cy="3810571"/>
        </p:xfrm>
        <a:graphic>
          <a:graphicData uri="http://schemas.openxmlformats.org/drawingml/2006/table">
            <a:tbl>
              <a:tblPr firstRow="1" firstCol="1" bandRow="1">
                <a:tableStyleId>{5C22544A-7EE6-4342-B048-85BDC9FD1C3A}</a:tableStyleId>
              </a:tblPr>
              <a:tblGrid>
                <a:gridCol w="8855375">
                  <a:extLst>
                    <a:ext uri="{9D8B030D-6E8A-4147-A177-3AD203B41FA5}">
                      <a16:colId xmlns:a16="http://schemas.microsoft.com/office/drawing/2014/main" val="20000"/>
                    </a:ext>
                  </a:extLst>
                </a:gridCol>
              </a:tblGrid>
              <a:tr h="3810571">
                <a:tc>
                  <a:txBody>
                    <a:bodyPr/>
                    <a:lstStyle/>
                    <a:p>
                      <a:pPr marR="64770" algn="l">
                        <a:spcBef>
                          <a:spcPts val="10"/>
                        </a:spcBef>
                      </a:pPr>
                      <a:endParaRPr lang="en-US" sz="2500" b="1" dirty="0">
                        <a:solidFill>
                          <a:schemeClr val="tx1"/>
                        </a:solidFill>
                        <a:effectLst/>
                        <a:latin typeface="Times New Roman" panose="02020603050405020304" pitchFamily="18" charset="0"/>
                        <a:ea typeface="Times New Roman" panose="02020603050405020304" pitchFamily="18" charset="0"/>
                      </a:endParaRPr>
                    </a:p>
                    <a:p>
                      <a:pPr marL="342900" marR="64770" indent="-342900" algn="l">
                        <a:spcBef>
                          <a:spcPts val="10"/>
                        </a:spcBef>
                        <a:buFont typeface="Wingdings" panose="05000000000000000000" pitchFamily="2" charset="2"/>
                        <a:buChar char="§"/>
                      </a:pPr>
                      <a:r>
                        <a:rPr lang="en-US" sz="2500" dirty="0">
                          <a:solidFill>
                            <a:schemeClr val="tx1"/>
                          </a:solidFill>
                          <a:effectLst/>
                          <a:latin typeface="Times New Roman" panose="02020603050405020304" pitchFamily="18" charset="0"/>
                          <a:ea typeface="Times New Roman" panose="02020603050405020304" pitchFamily="18" charset="0"/>
                        </a:rPr>
                        <a:t>Memory Architecture</a:t>
                      </a:r>
                    </a:p>
                    <a:p>
                      <a:pPr marL="342900" marR="64770" indent="-342900" algn="l">
                        <a:spcBef>
                          <a:spcPts val="10"/>
                        </a:spcBef>
                        <a:buFont typeface="Wingdings" panose="05000000000000000000" pitchFamily="2" charset="2"/>
                        <a:buChar char="§"/>
                      </a:pPr>
                      <a:r>
                        <a:rPr lang="en-US" sz="2500" dirty="0">
                          <a:solidFill>
                            <a:schemeClr val="tx1"/>
                          </a:solidFill>
                          <a:effectLst/>
                          <a:latin typeface="Times New Roman" panose="02020603050405020304" pitchFamily="18" charset="0"/>
                          <a:ea typeface="Times New Roman" panose="02020603050405020304" pitchFamily="18" charset="0"/>
                        </a:rPr>
                        <a:t>Memory hierarchy</a:t>
                      </a:r>
                    </a:p>
                    <a:p>
                      <a:pPr marL="342900" marR="64770" indent="-342900" algn="l">
                        <a:spcBef>
                          <a:spcPts val="10"/>
                        </a:spcBef>
                        <a:buFont typeface="Wingdings" panose="05000000000000000000" pitchFamily="2" charset="2"/>
                        <a:buChar char="§"/>
                      </a:pPr>
                      <a:r>
                        <a:rPr lang="en-US" sz="2500" dirty="0">
                          <a:solidFill>
                            <a:schemeClr val="tx1"/>
                          </a:solidFill>
                          <a:effectLst/>
                          <a:latin typeface="Times New Roman" panose="02020603050405020304" pitchFamily="18" charset="0"/>
                          <a:ea typeface="Times New Roman" panose="02020603050405020304" pitchFamily="18" charset="0"/>
                        </a:rPr>
                        <a:t> Types of Memories : Primary Memory – DRAM, SDRAM, DDR, RDAM. ROM, PROM, EPROM, EEPROM, Cache   memory Structure</a:t>
                      </a:r>
                    </a:p>
                    <a:p>
                      <a:pPr marL="342900" marR="64770" indent="-342900" algn="l">
                        <a:spcBef>
                          <a:spcPts val="10"/>
                        </a:spcBef>
                        <a:buFont typeface="Wingdings" panose="05000000000000000000" pitchFamily="2" charset="2"/>
                        <a:buChar char="§"/>
                      </a:pPr>
                      <a:r>
                        <a:rPr lang="en-US" sz="2500" dirty="0">
                          <a:solidFill>
                            <a:schemeClr val="tx1"/>
                          </a:solidFill>
                          <a:effectLst/>
                          <a:latin typeface="Times New Roman" panose="02020603050405020304" pitchFamily="18" charset="0"/>
                          <a:ea typeface="Times New Roman" panose="02020603050405020304" pitchFamily="18" charset="0"/>
                        </a:rPr>
                        <a:t> DMA</a:t>
                      </a:r>
                    </a:p>
                    <a:p>
                      <a:pPr marL="342900" marR="64770" indent="-342900" algn="l">
                        <a:spcBef>
                          <a:spcPts val="10"/>
                        </a:spcBef>
                        <a:buFont typeface="Wingdings" panose="05000000000000000000" pitchFamily="2" charset="2"/>
                        <a:buChar char="§"/>
                      </a:pPr>
                      <a:r>
                        <a:rPr lang="en-US" sz="2500" dirty="0">
                          <a:solidFill>
                            <a:schemeClr val="tx1"/>
                          </a:solidFill>
                          <a:effectLst/>
                          <a:latin typeface="Times New Roman" panose="02020603050405020304" pitchFamily="18" charset="0"/>
                          <a:ea typeface="Times New Roman" panose="02020603050405020304" pitchFamily="18" charset="0"/>
                        </a:rPr>
                        <a:t>DMA interfacing with processor Data Read/ Write process, Role of Cache memory, Virtual Memory. </a:t>
                      </a:r>
                      <a:endParaRPr lang="en-IN" sz="2500" dirty="0">
                        <a:solidFill>
                          <a:schemeClr val="tx1"/>
                        </a:solidFill>
                        <a:effectLst/>
                        <a:latin typeface="Times New Roman" panose="02020603050405020304" pitchFamily="18" charset="0"/>
                        <a:ea typeface="Times New Roman" panose="02020603050405020304" pitchFamily="18" charset="0"/>
                      </a:endParaRPr>
                    </a:p>
                  </a:txBody>
                  <a:tcPr marL="118389" marR="118389" marT="0" marB="0"/>
                </a:tc>
                <a:extLst>
                  <a:ext uri="{0D108BD9-81ED-4DB2-BD59-A6C34878D82A}">
                    <a16:rowId xmlns:a16="http://schemas.microsoft.com/office/drawing/2014/main" val="10000"/>
                  </a:ext>
                </a:extLst>
              </a:tr>
            </a:tbl>
          </a:graphicData>
        </a:graphic>
      </p:graphicFrame>
      <p:sp>
        <p:nvSpPr>
          <p:cNvPr id="3" name="Rectangle 2">
            <a:extLst>
              <a:ext uri="{FF2B5EF4-FFF2-40B4-BE49-F238E27FC236}">
                <a16:creationId xmlns:a16="http://schemas.microsoft.com/office/drawing/2014/main" id="{6BBB691A-E5EA-4EBB-9D1A-7E445DBB305C}"/>
              </a:ext>
            </a:extLst>
          </p:cNvPr>
          <p:cNvSpPr/>
          <p:nvPr/>
        </p:nvSpPr>
        <p:spPr>
          <a:xfrm>
            <a:off x="7288188" y="5726642"/>
            <a:ext cx="3247652" cy="200608"/>
          </a:xfrm>
          <a:prstGeom prst="rect">
            <a:avLst/>
          </a:prstGeom>
        </p:spPr>
        <p:txBody>
          <a:bodyPr vert="horz" lIns="91440" tIns="45720" rIns="91440" bIns="45720" rtlCol="0" anchor="b">
            <a:noAutofit/>
          </a:bodyPr>
          <a:lstStyle/>
          <a:p>
            <a:pPr>
              <a:spcBef>
                <a:spcPct val="20000"/>
              </a:spcBef>
              <a:spcAft>
                <a:spcPts val="600"/>
              </a:spcAft>
              <a:buClr>
                <a:schemeClr val="accent1"/>
              </a:buClr>
            </a:pPr>
            <a:r>
              <a:rPr lang="en-US" sz="2800" kern="1200" dirty="0">
                <a:ln w="0"/>
                <a:effectLst>
                  <a:outerShdw blurRad="38100" dist="25400" dir="5400000" algn="ctr" rotWithShape="0">
                    <a:srgbClr val="6E747A">
                      <a:alpha val="43000"/>
                    </a:srgbClr>
                  </a:outerShdw>
                </a:effectLst>
                <a:latin typeface="+mn-lt"/>
                <a:ea typeface="+mn-ea"/>
                <a:cs typeface="+mn-cs"/>
              </a:rPr>
              <a:t>By Varsha Sontakke</a:t>
            </a:r>
            <a:endParaRPr lang="en-US" sz="2800" b="0" kern="1200" cap="none" spc="0" dirty="0">
              <a:ln w="0"/>
              <a:effectLst>
                <a:outerShdw blurRad="38100" dist="25400" dir="5400000" algn="ctr" rotWithShape="0">
                  <a:srgbClr val="6E747A">
                    <a:alpha val="43000"/>
                  </a:srgbClr>
                </a:outerShdw>
              </a:effectLst>
              <a:latin typeface="+mn-lt"/>
              <a:ea typeface="+mn-ea"/>
              <a:cs typeface="+mn-cs"/>
            </a:endParaRPr>
          </a:p>
        </p:txBody>
      </p:sp>
    </p:spTree>
    <p:extLst>
      <p:ext uri="{BB962C8B-B14F-4D97-AF65-F5344CB8AC3E}">
        <p14:creationId xmlns:p14="http://schemas.microsoft.com/office/powerpoint/2010/main" val="397395723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1247"/>
          </a:xfrm>
        </p:spPr>
        <p:txBody>
          <a:bodyPr>
            <a:normAutofit/>
          </a:bodyPr>
          <a:lstStyle/>
          <a:p>
            <a:pPr algn="ctr"/>
            <a:r>
              <a:rPr lang="en-IN" sz="2800" dirty="0">
                <a:solidFill>
                  <a:schemeClr val="tx1"/>
                </a:solidFill>
                <a:latin typeface="Times New Roman" panose="02020603050405020304" pitchFamily="18" charset="0"/>
                <a:cs typeface="Times New Roman" panose="02020603050405020304" pitchFamily="18" charset="0"/>
              </a:rPr>
              <a:t>COMPUTER MEMORY SYSTEM OVERVIEW</a:t>
            </a:r>
            <a:br>
              <a:rPr lang="en-IN" sz="2800" dirty="0">
                <a:solidFill>
                  <a:schemeClr val="tx1"/>
                </a:solidFill>
                <a:latin typeface="Times New Roman" panose="02020603050405020304" pitchFamily="18" charset="0"/>
                <a:cs typeface="Times New Roman" panose="02020603050405020304" pitchFamily="18" charset="0"/>
              </a:rPr>
            </a:br>
            <a:r>
              <a:rPr lang="en-IN" sz="2800" dirty="0">
                <a:solidFill>
                  <a:schemeClr val="tx1"/>
                </a:solidFill>
                <a:latin typeface="Times New Roman" panose="02020603050405020304" pitchFamily="18" charset="0"/>
                <a:cs typeface="Times New Roman" panose="02020603050405020304" pitchFamily="18" charset="0"/>
              </a:rPr>
              <a:t> Characteristics of Memory Systems</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9176" y="1460310"/>
            <a:ext cx="6537647" cy="52743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0219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6188" y="462868"/>
            <a:ext cx="10515600" cy="5932264"/>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1. The term </a:t>
            </a:r>
            <a:r>
              <a:rPr lang="en-IN" b="1" dirty="0">
                <a:latin typeface="Times New Roman" panose="02020603050405020304" pitchFamily="18" charset="0"/>
                <a:cs typeface="Times New Roman" panose="02020603050405020304" pitchFamily="18" charset="0"/>
              </a:rPr>
              <a:t>location </a:t>
            </a:r>
            <a:r>
              <a:rPr lang="en-IN" dirty="0">
                <a:latin typeface="Times New Roman" panose="02020603050405020304" pitchFamily="18" charset="0"/>
                <a:cs typeface="Times New Roman" panose="02020603050405020304" pitchFamily="18" charset="0"/>
              </a:rPr>
              <a:t>in Table 4.1 refers to whether memory is internal and external to the computer. </a:t>
            </a:r>
          </a:p>
          <a:p>
            <a:r>
              <a:rPr lang="en-IN" dirty="0">
                <a:latin typeface="Times New Roman" panose="02020603050405020304" pitchFamily="18" charset="0"/>
                <a:cs typeface="Times New Roman" panose="02020603050405020304" pitchFamily="18" charset="0"/>
              </a:rPr>
              <a:t>Internal memory is often equated with main memory. But there are other forms of internal memory.</a:t>
            </a:r>
          </a:p>
          <a:p>
            <a:r>
              <a:rPr lang="en-IN" dirty="0">
                <a:latin typeface="Times New Roman" panose="02020603050405020304" pitchFamily="18" charset="0"/>
                <a:cs typeface="Times New Roman" panose="02020603050405020304" pitchFamily="18" charset="0"/>
              </a:rPr>
              <a:t>Cache is another form of internal memory. </a:t>
            </a:r>
          </a:p>
          <a:p>
            <a:r>
              <a:rPr lang="en-IN" dirty="0">
                <a:latin typeface="Times New Roman" panose="02020603050405020304" pitchFamily="18" charset="0"/>
                <a:cs typeface="Times New Roman" panose="02020603050405020304" pitchFamily="18" charset="0"/>
              </a:rPr>
              <a:t>External memory consists of peripheral storage devices, such as disk and tape, that are accessible to the processor via I/O controllers.</a:t>
            </a:r>
          </a:p>
          <a:p>
            <a:pPr marL="0" indent="0">
              <a:buNone/>
            </a:pPr>
            <a:r>
              <a:rPr lang="en-IN" b="1" dirty="0">
                <a:latin typeface="Times New Roman" panose="02020603050405020304" pitchFamily="18" charset="0"/>
                <a:cs typeface="Times New Roman" panose="02020603050405020304" pitchFamily="18" charset="0"/>
              </a:rPr>
              <a:t>2. Capacity</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For internal memory, this is typically expressed in terms of bytes (1 byte 8 bits) or words. Common word lengths are 8, 16, and 32 bits.</a:t>
            </a:r>
          </a:p>
          <a:p>
            <a:r>
              <a:rPr lang="en-IN" dirty="0">
                <a:latin typeface="Times New Roman" panose="02020603050405020304" pitchFamily="18" charset="0"/>
                <a:cs typeface="Times New Roman" panose="02020603050405020304" pitchFamily="18" charset="0"/>
              </a:rPr>
              <a:t>External memory capacity is typically expressed in terms of bytes.</a:t>
            </a:r>
          </a:p>
        </p:txBody>
      </p:sp>
    </p:spTree>
    <p:extLst>
      <p:ext uri="{BB962C8B-B14F-4D97-AF65-F5344CB8AC3E}">
        <p14:creationId xmlns:p14="http://schemas.microsoft.com/office/powerpoint/2010/main" val="1760865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1065" y="283335"/>
            <a:ext cx="10606825" cy="5880749"/>
          </a:xfrm>
        </p:spPr>
        <p:txBody>
          <a:bodyPr>
            <a:normAutofit/>
          </a:bodyPr>
          <a:lstStyle/>
          <a:p>
            <a:pPr algn="just"/>
            <a:r>
              <a:rPr lang="en-IN" dirty="0">
                <a:solidFill>
                  <a:schemeClr val="tx1"/>
                </a:solidFill>
                <a:latin typeface="Times New Roman" panose="02020603050405020304" pitchFamily="18" charset="0"/>
                <a:cs typeface="Times New Roman" panose="02020603050405020304" pitchFamily="18" charset="0"/>
              </a:rPr>
              <a:t>For internal memory, the </a:t>
            </a:r>
            <a:r>
              <a:rPr lang="en-IN" b="1" dirty="0">
                <a:solidFill>
                  <a:schemeClr val="tx1"/>
                </a:solidFill>
                <a:latin typeface="Times New Roman" panose="02020603050405020304" pitchFamily="18" charset="0"/>
                <a:cs typeface="Times New Roman" panose="02020603050405020304" pitchFamily="18" charset="0"/>
              </a:rPr>
              <a:t>unit of transfer </a:t>
            </a:r>
            <a:r>
              <a:rPr lang="en-IN" dirty="0">
                <a:solidFill>
                  <a:schemeClr val="tx1"/>
                </a:solidFill>
                <a:latin typeface="Times New Roman" panose="02020603050405020304" pitchFamily="18" charset="0"/>
                <a:cs typeface="Times New Roman" panose="02020603050405020304" pitchFamily="18" charset="0"/>
              </a:rPr>
              <a:t>is equal to the number of electrical lines into and out of the memory module. For main memory, this is the number of bits read out of or written into memory at a time.</a:t>
            </a:r>
          </a:p>
          <a:p>
            <a:pPr algn="just"/>
            <a:r>
              <a:rPr lang="en-IN" dirty="0">
                <a:solidFill>
                  <a:schemeClr val="tx1"/>
                </a:solidFill>
                <a:latin typeface="Times New Roman" panose="02020603050405020304" pitchFamily="18" charset="0"/>
                <a:cs typeface="Times New Roman" panose="02020603050405020304" pitchFamily="18" charset="0"/>
              </a:rPr>
              <a:t>For external memory, data are often transferred in much larger units than a word, and these are referred to as blocks.</a:t>
            </a:r>
          </a:p>
          <a:p>
            <a:pPr algn="just"/>
            <a:r>
              <a:rPr lang="en-IN" b="1" dirty="0">
                <a:solidFill>
                  <a:schemeClr val="tx1"/>
                </a:solidFill>
                <a:latin typeface="Times New Roman" panose="02020603050405020304" pitchFamily="18" charset="0"/>
                <a:cs typeface="Times New Roman" panose="02020603050405020304" pitchFamily="18" charset="0"/>
              </a:rPr>
              <a:t>Method of accessing </a:t>
            </a:r>
            <a:r>
              <a:rPr lang="en-IN" dirty="0">
                <a:solidFill>
                  <a:schemeClr val="tx1"/>
                </a:solidFill>
                <a:latin typeface="Times New Roman" panose="02020603050405020304" pitchFamily="18" charset="0"/>
                <a:cs typeface="Times New Roman" panose="02020603050405020304" pitchFamily="18" charset="0"/>
              </a:rPr>
              <a:t>units of data. : </a:t>
            </a:r>
          </a:p>
          <a:p>
            <a:pPr marL="514350" indent="-514350" algn="just">
              <a:buAutoNum type="alphaLcPeriod"/>
            </a:pPr>
            <a:r>
              <a:rPr lang="en-IN" b="1" dirty="0">
                <a:solidFill>
                  <a:schemeClr val="tx1"/>
                </a:solidFill>
                <a:latin typeface="Times New Roman" panose="02020603050405020304" pitchFamily="18" charset="0"/>
                <a:cs typeface="Times New Roman" panose="02020603050405020304" pitchFamily="18" charset="0"/>
              </a:rPr>
              <a:t>Sequential access: </a:t>
            </a:r>
            <a:r>
              <a:rPr lang="en-IN" dirty="0">
                <a:solidFill>
                  <a:schemeClr val="tx1"/>
                </a:solidFill>
                <a:latin typeface="Times New Roman" panose="02020603050405020304" pitchFamily="18" charset="0"/>
                <a:cs typeface="Times New Roman" panose="02020603050405020304" pitchFamily="18" charset="0"/>
              </a:rPr>
              <a:t>Memory is organized into units of data, called records. Access must be made in a specific linear sequence. Stored addressing information is used to separate records and assist in the retrieval process.</a:t>
            </a:r>
          </a:p>
          <a:p>
            <a:pPr marL="0" indent="0" algn="just">
              <a:buNone/>
            </a:pPr>
            <a:r>
              <a:rPr lang="en-IN" b="1" dirty="0">
                <a:solidFill>
                  <a:schemeClr val="tx1"/>
                </a:solidFill>
                <a:latin typeface="Times New Roman" panose="02020603050405020304" pitchFamily="18" charset="0"/>
                <a:cs typeface="Times New Roman" panose="02020603050405020304" pitchFamily="18" charset="0"/>
              </a:rPr>
              <a:t>b.  Direct access: </a:t>
            </a:r>
            <a:r>
              <a:rPr lang="en-IN" dirty="0">
                <a:solidFill>
                  <a:schemeClr val="tx1"/>
                </a:solidFill>
                <a:latin typeface="Times New Roman" panose="02020603050405020304" pitchFamily="18" charset="0"/>
                <a:cs typeface="Times New Roman" panose="02020603050405020304" pitchFamily="18" charset="0"/>
              </a:rPr>
              <a:t>As with sequential access, direct access involves a    shared read–write mechanism. However, individual blocks or records  have a unique address based on physical location</a:t>
            </a:r>
          </a:p>
        </p:txBody>
      </p:sp>
    </p:spTree>
    <p:extLst>
      <p:ext uri="{BB962C8B-B14F-4D97-AF65-F5344CB8AC3E}">
        <p14:creationId xmlns:p14="http://schemas.microsoft.com/office/powerpoint/2010/main" val="2403009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322" y="180305"/>
            <a:ext cx="10515600" cy="643944"/>
          </a:xfrm>
        </p:spPr>
        <p:txBody>
          <a:bodyPr>
            <a:normAutofit/>
          </a:bodyPr>
          <a:lstStyle/>
          <a:p>
            <a:pPr algn="ctr"/>
            <a:r>
              <a:rPr lang="en-IN" sz="3200" dirty="0">
                <a:solidFill>
                  <a:schemeClr val="tx1"/>
                </a:solidFill>
                <a:latin typeface="Times New Roman" panose="02020603050405020304" pitchFamily="18" charset="0"/>
                <a:cs typeface="Times New Roman" panose="02020603050405020304" pitchFamily="18" charset="0"/>
              </a:rPr>
              <a:t>Memory characteristics </a:t>
            </a:r>
          </a:p>
        </p:txBody>
      </p:sp>
      <p:sp>
        <p:nvSpPr>
          <p:cNvPr id="3" name="Content Placeholder 2"/>
          <p:cNvSpPr>
            <a:spLocks noGrp="1"/>
          </p:cNvSpPr>
          <p:nvPr>
            <p:ph idx="1"/>
          </p:nvPr>
        </p:nvSpPr>
        <p:spPr>
          <a:xfrm>
            <a:off x="838200" y="875763"/>
            <a:ext cx="10515600" cy="5301200"/>
          </a:xfrm>
        </p:spPr>
        <p:txBody>
          <a:bodyPr>
            <a:normAutofit/>
          </a:bodyPr>
          <a:lstStyle/>
          <a:p>
            <a:pPr algn="just"/>
            <a:r>
              <a:rPr lang="en-IN" b="1" dirty="0">
                <a:latin typeface="Times New Roman" panose="02020603050405020304" pitchFamily="18" charset="0"/>
                <a:cs typeface="Times New Roman" panose="02020603050405020304" pitchFamily="18" charset="0"/>
              </a:rPr>
              <a:t>Random access: </a:t>
            </a:r>
            <a:r>
              <a:rPr lang="en-IN" dirty="0">
                <a:latin typeface="Times New Roman" panose="02020603050405020304" pitchFamily="18" charset="0"/>
                <a:cs typeface="Times New Roman" panose="02020603050405020304" pitchFamily="18" charset="0"/>
              </a:rPr>
              <a:t>Each addressable location in memory has a unique, physically wired-in addressing mechanism. The time to access a given location is independent of the sequence of prior accesses and is constant. </a:t>
            </a:r>
          </a:p>
          <a:p>
            <a:pPr algn="just"/>
            <a:r>
              <a:rPr lang="en-IN" dirty="0">
                <a:latin typeface="Times New Roman" panose="02020603050405020304" pitchFamily="18" charset="0"/>
                <a:cs typeface="Times New Roman" panose="02020603050405020304" pitchFamily="18" charset="0"/>
              </a:rPr>
              <a:t>Thus, any location can be selected at random and directly addressed and accessed. Main memory and some cache systems are random access.</a:t>
            </a:r>
          </a:p>
          <a:p>
            <a:pPr algn="just"/>
            <a:r>
              <a:rPr lang="en-IN" b="1" dirty="0">
                <a:latin typeface="Times New Roman" panose="02020603050405020304" pitchFamily="18" charset="0"/>
                <a:cs typeface="Times New Roman" panose="02020603050405020304" pitchFamily="18" charset="0"/>
              </a:rPr>
              <a:t>Associative: </a:t>
            </a:r>
            <a:r>
              <a:rPr lang="en-IN" dirty="0">
                <a:latin typeface="Times New Roman" panose="02020603050405020304" pitchFamily="18" charset="0"/>
                <a:cs typeface="Times New Roman" panose="02020603050405020304" pitchFamily="18" charset="0"/>
              </a:rPr>
              <a:t>This is a random access type of memory that enables one to make a comparison of desired bit locations within a word for a specified match.</a:t>
            </a:r>
          </a:p>
          <a:p>
            <a:pPr algn="just"/>
            <a:r>
              <a:rPr lang="en-IN" dirty="0">
                <a:latin typeface="Times New Roman" panose="02020603050405020304" pitchFamily="18" charset="0"/>
                <a:cs typeface="Times New Roman" panose="02020603050405020304" pitchFamily="18" charset="0"/>
              </a:rPr>
              <a:t>Thus, a word is retrieved based on a portion of its contents rather than its address. </a:t>
            </a:r>
          </a:p>
          <a:p>
            <a:pPr algn="just"/>
            <a:r>
              <a:rPr lang="en-IN" dirty="0">
                <a:latin typeface="Times New Roman" panose="02020603050405020304" pitchFamily="18" charset="0"/>
                <a:cs typeface="Times New Roman" panose="02020603050405020304" pitchFamily="18" charset="0"/>
              </a:rPr>
              <a:t>As with ordinary random-access memory, each location has its own addressing mechanism, and retrieval time is constant independent of location or prior access patterns. </a:t>
            </a:r>
          </a:p>
          <a:p>
            <a:pPr algn="just"/>
            <a:r>
              <a:rPr lang="en-IN" dirty="0">
                <a:latin typeface="Times New Roman" panose="02020603050405020304" pitchFamily="18" charset="0"/>
                <a:cs typeface="Times New Roman" panose="02020603050405020304" pitchFamily="18" charset="0"/>
              </a:rPr>
              <a:t>Cache memories may employ associative access.</a:t>
            </a:r>
          </a:p>
        </p:txBody>
      </p:sp>
    </p:spTree>
    <p:extLst>
      <p:ext uri="{BB962C8B-B14F-4D97-AF65-F5344CB8AC3E}">
        <p14:creationId xmlns:p14="http://schemas.microsoft.com/office/powerpoint/2010/main" val="3926075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3487"/>
            <a:ext cx="10515600" cy="5803476"/>
          </a:xfrm>
        </p:spPr>
        <p:txBody>
          <a:bodyPr>
            <a:normAutofit/>
          </a:bodyPr>
          <a:lstStyle/>
          <a:p>
            <a:pPr algn="just"/>
            <a:r>
              <a:rPr lang="en-IN" b="1" dirty="0"/>
              <a:t>Access time (latency): </a:t>
            </a:r>
            <a:r>
              <a:rPr lang="en-IN" dirty="0"/>
              <a:t>For random-access memory, this is the time it takes to perform a read or write operation, that is, the time from the instant that an address is presented to the memory to the instant that data have been stored or made available for use.</a:t>
            </a:r>
          </a:p>
          <a:p>
            <a:pPr algn="just"/>
            <a:r>
              <a:rPr lang="en-IN" b="1" dirty="0"/>
              <a:t>Memory cycle time: </a:t>
            </a:r>
            <a:r>
              <a:rPr lang="en-IN" dirty="0"/>
              <a:t>This concept is primarily applied to random-access memory and consists of the access time plus any additional time required before a second access can commence. </a:t>
            </a:r>
          </a:p>
          <a:p>
            <a:pPr algn="just"/>
            <a:r>
              <a:rPr lang="en-IN" dirty="0"/>
              <a:t>This additional time may be required for transients to die out on signal lines or to regenerate data if they are read destructively.</a:t>
            </a:r>
          </a:p>
          <a:p>
            <a:pPr algn="just"/>
            <a:r>
              <a:rPr lang="en-IN" dirty="0"/>
              <a:t>Note that memory cycle time is concerned with the system bus, not the processor.</a:t>
            </a:r>
          </a:p>
          <a:p>
            <a:r>
              <a:rPr lang="en-IN" b="1" dirty="0"/>
              <a:t>Transfer rate: </a:t>
            </a:r>
            <a:r>
              <a:rPr lang="en-IN" dirty="0"/>
              <a:t>This is the rate at which data can be transferred into or out of a memory unit. For random-access memory, it is equal to 1/(cycle time).</a:t>
            </a:r>
          </a:p>
        </p:txBody>
      </p:sp>
    </p:spTree>
    <p:extLst>
      <p:ext uri="{BB962C8B-B14F-4D97-AF65-F5344CB8AC3E}">
        <p14:creationId xmlns:p14="http://schemas.microsoft.com/office/powerpoint/2010/main" val="3179875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5483" y="352928"/>
            <a:ext cx="9452517" cy="896008"/>
          </a:xfrm>
        </p:spPr>
        <p:txBody>
          <a:bodyPr>
            <a:normAutofit/>
          </a:bodyPr>
          <a:lstStyle/>
          <a:p>
            <a:pPr algn="l"/>
            <a:r>
              <a:rPr lang="en-US" sz="4400" b="1" dirty="0"/>
              <a:t>The Memory Hierarchy</a:t>
            </a:r>
          </a:p>
        </p:txBody>
      </p:sp>
      <p:sp>
        <p:nvSpPr>
          <p:cNvPr id="3" name="Subtitle 2"/>
          <p:cNvSpPr>
            <a:spLocks noGrp="1"/>
          </p:cNvSpPr>
          <p:nvPr>
            <p:ph type="subTitle" idx="1"/>
          </p:nvPr>
        </p:nvSpPr>
        <p:spPr>
          <a:xfrm>
            <a:off x="323385" y="1248936"/>
            <a:ext cx="10344615" cy="5452947"/>
          </a:xfrm>
        </p:spPr>
        <p:txBody>
          <a:bodyPr>
            <a:noAutofit/>
          </a:bodyPr>
          <a:lstStyle/>
          <a:p>
            <a:pPr marL="342900" indent="-342900" algn="just">
              <a:lnSpc>
                <a:spcPct val="100000"/>
              </a:lnSpc>
              <a:buFont typeface="Wingdings" panose="05000000000000000000" pitchFamily="2" charset="2"/>
              <a:buChar char="Ø"/>
            </a:pPr>
            <a:r>
              <a:rPr lang="en-US" dirty="0">
                <a:solidFill>
                  <a:srgbClr val="000000"/>
                </a:solidFill>
                <a:latin typeface="TimesTen-Roman"/>
              </a:rPr>
              <a:t>To achieve greatest performance, the memory must be able to keep up with the processor.</a:t>
            </a:r>
          </a:p>
          <a:p>
            <a:pPr marL="342900" indent="-342900" algn="just">
              <a:lnSpc>
                <a:spcPct val="100000"/>
              </a:lnSpc>
              <a:buFont typeface="Wingdings" panose="05000000000000000000" pitchFamily="2" charset="2"/>
              <a:buChar char="Ø"/>
            </a:pPr>
            <a:r>
              <a:rPr lang="en-US" dirty="0">
                <a:solidFill>
                  <a:srgbClr val="000000"/>
                </a:solidFill>
                <a:latin typeface="TimesTen-Roman"/>
              </a:rPr>
              <a:t>As the CPU is executing  instructions, it should not wait for the operands or instructions to be read from the memory.</a:t>
            </a:r>
          </a:p>
          <a:p>
            <a:pPr marL="342900" indent="-342900" algn="just">
              <a:lnSpc>
                <a:spcPct val="100000"/>
              </a:lnSpc>
              <a:buFont typeface="Wingdings" panose="05000000000000000000" pitchFamily="2" charset="2"/>
              <a:buChar char="Ø"/>
            </a:pPr>
            <a:r>
              <a:rPr lang="en-US" dirty="0">
                <a:solidFill>
                  <a:srgbClr val="000000"/>
                </a:solidFill>
                <a:latin typeface="TimesTen-Roman"/>
              </a:rPr>
              <a:t>For a practical system, cost of system must be reasonable.</a:t>
            </a:r>
          </a:p>
          <a:p>
            <a:pPr marL="342900" indent="-342900" algn="just">
              <a:lnSpc>
                <a:spcPct val="100000"/>
              </a:lnSpc>
              <a:buFont typeface="Wingdings" panose="05000000000000000000" pitchFamily="2" charset="2"/>
              <a:buChar char="Ø"/>
            </a:pPr>
            <a:r>
              <a:rPr lang="en-US" dirty="0">
                <a:solidFill>
                  <a:srgbClr val="000000"/>
                </a:solidFill>
                <a:latin typeface="TimesTen-Roman"/>
              </a:rPr>
              <a:t>A memory system has three basic characteristics.</a:t>
            </a:r>
          </a:p>
          <a:p>
            <a:pPr algn="just">
              <a:lnSpc>
                <a:spcPct val="100000"/>
              </a:lnSpc>
            </a:pPr>
            <a:r>
              <a:rPr lang="en-US" dirty="0">
                <a:solidFill>
                  <a:srgbClr val="000000"/>
                </a:solidFill>
                <a:latin typeface="TimesTen-Roman"/>
              </a:rPr>
              <a:t>	Cost per bit</a:t>
            </a:r>
          </a:p>
          <a:p>
            <a:pPr algn="just">
              <a:lnSpc>
                <a:spcPct val="100000"/>
              </a:lnSpc>
            </a:pPr>
            <a:r>
              <a:rPr lang="en-US" dirty="0">
                <a:solidFill>
                  <a:srgbClr val="000000"/>
                </a:solidFill>
                <a:latin typeface="TimesTen-Roman"/>
              </a:rPr>
              <a:t>	Capacity</a:t>
            </a:r>
          </a:p>
          <a:p>
            <a:pPr algn="just">
              <a:lnSpc>
                <a:spcPct val="100000"/>
              </a:lnSpc>
            </a:pPr>
            <a:r>
              <a:rPr lang="en-US" dirty="0">
                <a:solidFill>
                  <a:srgbClr val="000000"/>
                </a:solidFill>
                <a:latin typeface="TimesTen-Roman"/>
              </a:rPr>
              <a:t>	Access time</a:t>
            </a:r>
          </a:p>
          <a:p>
            <a:pPr algn="just">
              <a:lnSpc>
                <a:spcPct val="1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455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59727"/>
            <a:ext cx="10515600" cy="5017236"/>
          </a:xfrm>
        </p:spPr>
        <p:txBody>
          <a:bodyPr>
            <a:normAutofit/>
          </a:bodyPr>
          <a:lstStyle/>
          <a:p>
            <a:pPr marL="342900" indent="-342900" algn="just">
              <a:lnSpc>
                <a:spcPct val="100000"/>
              </a:lnSpc>
              <a:buFont typeface="Wingdings" panose="05000000000000000000" pitchFamily="2" charset="2"/>
              <a:buChar char="Ø"/>
            </a:pPr>
            <a:r>
              <a:rPr lang="en-US" dirty="0">
                <a:solidFill>
                  <a:srgbClr val="000000"/>
                </a:solidFill>
                <a:latin typeface="TimesTen-Roman"/>
              </a:rPr>
              <a:t>There is a trade-off among the three key characteristics of memory: namely, capacity, access time, and cost. </a:t>
            </a:r>
          </a:p>
          <a:p>
            <a:pPr marL="342900" indent="-342900" algn="just">
              <a:lnSpc>
                <a:spcPct val="100000"/>
              </a:lnSpc>
              <a:buFont typeface="Wingdings" panose="05000000000000000000" pitchFamily="2" charset="2"/>
              <a:buChar char="Ø"/>
            </a:pPr>
            <a:r>
              <a:rPr lang="en-US" dirty="0">
                <a:solidFill>
                  <a:srgbClr val="000000"/>
                </a:solidFill>
                <a:latin typeface="TimesTen-Roman"/>
              </a:rPr>
              <a:t>A variety of technologies are used to implement memory systems, and across this spectrum of technologies, the following relationships hold:</a:t>
            </a:r>
          </a:p>
          <a:p>
            <a:pPr algn="just">
              <a:lnSpc>
                <a:spcPct val="100000"/>
              </a:lnSpc>
            </a:pPr>
            <a:r>
              <a:rPr lang="en-US" dirty="0">
                <a:solidFill>
                  <a:srgbClr val="808080"/>
                </a:solidFill>
                <a:latin typeface="TimesTen-Roman"/>
              </a:rPr>
              <a:t>• </a:t>
            </a:r>
            <a:r>
              <a:rPr lang="en-US" dirty="0">
                <a:solidFill>
                  <a:srgbClr val="000000"/>
                </a:solidFill>
                <a:latin typeface="TimesTen-Roman"/>
              </a:rPr>
              <a:t>Faster access time, greater cost per bit</a:t>
            </a:r>
          </a:p>
          <a:p>
            <a:pPr algn="just">
              <a:lnSpc>
                <a:spcPct val="100000"/>
              </a:lnSpc>
            </a:pPr>
            <a:r>
              <a:rPr lang="en-US" dirty="0">
                <a:solidFill>
                  <a:srgbClr val="808080"/>
                </a:solidFill>
                <a:latin typeface="TimesTen-Roman"/>
              </a:rPr>
              <a:t>• </a:t>
            </a:r>
            <a:r>
              <a:rPr lang="en-US" dirty="0">
                <a:solidFill>
                  <a:srgbClr val="000000"/>
                </a:solidFill>
                <a:latin typeface="TimesTen-Roman"/>
              </a:rPr>
              <a:t>Greater capacity, smaller cost per bit</a:t>
            </a:r>
          </a:p>
          <a:p>
            <a:pPr algn="just">
              <a:lnSpc>
                <a:spcPct val="100000"/>
              </a:lnSpc>
            </a:pPr>
            <a:r>
              <a:rPr lang="en-US" dirty="0">
                <a:solidFill>
                  <a:srgbClr val="808080"/>
                </a:solidFill>
                <a:latin typeface="TimesTen-Roman"/>
              </a:rPr>
              <a:t>• </a:t>
            </a:r>
            <a:r>
              <a:rPr lang="en-US" dirty="0">
                <a:solidFill>
                  <a:srgbClr val="000000"/>
                </a:solidFill>
                <a:latin typeface="TimesTen-Roman"/>
              </a:rPr>
              <a:t>Greater capacity, slower access time.</a:t>
            </a:r>
          </a:p>
        </p:txBody>
      </p:sp>
      <p:sp>
        <p:nvSpPr>
          <p:cNvPr id="4" name="Rectangle 3"/>
          <p:cNvSpPr/>
          <p:nvPr/>
        </p:nvSpPr>
        <p:spPr>
          <a:xfrm>
            <a:off x="1206739" y="467679"/>
            <a:ext cx="6219973" cy="523220"/>
          </a:xfrm>
          <a:prstGeom prst="rect">
            <a:avLst/>
          </a:prstGeom>
        </p:spPr>
        <p:txBody>
          <a:bodyPr wrap="square">
            <a:spAutoFit/>
          </a:bodyPr>
          <a:lstStyle/>
          <a:p>
            <a:r>
              <a:rPr lang="en-US" sz="2800" b="1" dirty="0"/>
              <a:t>The Memory Hierarchy</a:t>
            </a:r>
            <a:endParaRPr lang="en-US" sz="2800" dirty="0"/>
          </a:p>
        </p:txBody>
      </p:sp>
    </p:spTree>
    <p:extLst>
      <p:ext uri="{BB962C8B-B14F-4D97-AF65-F5344CB8AC3E}">
        <p14:creationId xmlns:p14="http://schemas.microsoft.com/office/powerpoint/2010/main" val="818763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108" y="242462"/>
            <a:ext cx="10448692" cy="1117988"/>
          </a:xfrm>
        </p:spPr>
        <p:txBody>
          <a:bodyPr/>
          <a:lstStyle/>
          <a:p>
            <a:r>
              <a:rPr lang="en-US" b="1" dirty="0"/>
              <a:t>The Memory Hierarchy</a:t>
            </a:r>
            <a:endParaRPr lang="en-US" dirty="0"/>
          </a:p>
        </p:txBody>
      </p:sp>
      <p:sp>
        <p:nvSpPr>
          <p:cNvPr id="3" name="Content Placeholder 2"/>
          <p:cNvSpPr>
            <a:spLocks noGrp="1"/>
          </p:cNvSpPr>
          <p:nvPr>
            <p:ph idx="1"/>
          </p:nvPr>
        </p:nvSpPr>
        <p:spPr>
          <a:xfrm>
            <a:off x="838200" y="1360449"/>
            <a:ext cx="10515600" cy="4816514"/>
          </a:xfrm>
        </p:spPr>
        <p:txBody>
          <a:bodyPr/>
          <a:lstStyle/>
          <a:p>
            <a:pPr algn="just"/>
            <a:r>
              <a:rPr lang="en-US" dirty="0"/>
              <a:t>The designer would like to use memory technologies that provide for large-capacity memory, both because the capacity is needed and because the cost per bit is low. </a:t>
            </a:r>
          </a:p>
          <a:p>
            <a:pPr algn="just"/>
            <a:r>
              <a:rPr lang="en-US" dirty="0"/>
              <a:t>However, to meet performance requirements, the designer needs to use expensive, relatively lower-capacity memories with short access times.</a:t>
            </a:r>
          </a:p>
          <a:p>
            <a:pPr algn="just"/>
            <a:r>
              <a:rPr lang="en-US" dirty="0"/>
              <a:t>The way out from the above problem is not to rely on a single memory component or technology, but to employ a </a:t>
            </a:r>
            <a:r>
              <a:rPr lang="en-US" b="1" dirty="0"/>
              <a:t>memory hierarchy</a:t>
            </a:r>
            <a:r>
              <a:rPr lang="en-US" dirty="0"/>
              <a:t>.</a:t>
            </a:r>
          </a:p>
        </p:txBody>
      </p:sp>
    </p:spTree>
    <p:extLst>
      <p:ext uri="{BB962C8B-B14F-4D97-AF65-F5344CB8AC3E}">
        <p14:creationId xmlns:p14="http://schemas.microsoft.com/office/powerpoint/2010/main" val="2312930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typical memory hierarchy is shown in fig.</a:t>
            </a:r>
            <a:br>
              <a:rPr lang="en-US" dirty="0"/>
            </a:br>
            <a:endParaRPr lang="en-US" dirty="0"/>
          </a:p>
        </p:txBody>
      </p:sp>
      <p:sp>
        <p:nvSpPr>
          <p:cNvPr id="3" name="Content Placeholder 2"/>
          <p:cNvSpPr>
            <a:spLocks noGrp="1"/>
          </p:cNvSpPr>
          <p:nvPr>
            <p:ph idx="1"/>
          </p:nvPr>
        </p:nvSpPr>
        <p:spPr>
          <a:xfrm>
            <a:off x="838200" y="1449659"/>
            <a:ext cx="10515600" cy="4727304"/>
          </a:xfrm>
        </p:spPr>
        <p:txBody>
          <a:bodyPr>
            <a:normAutofit/>
          </a:bodyPr>
          <a:lstStyle/>
          <a:p>
            <a:pPr marL="0" indent="0">
              <a:buNone/>
            </a:pPr>
            <a:r>
              <a:rPr lang="en-US" dirty="0"/>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079636"/>
            <a:ext cx="8905875" cy="5467350"/>
          </a:xfrm>
          <a:prstGeom prst="rect">
            <a:avLst/>
          </a:prstGeom>
        </p:spPr>
      </p:pic>
    </p:spTree>
    <p:extLst>
      <p:ext uri="{BB962C8B-B14F-4D97-AF65-F5344CB8AC3E}">
        <p14:creationId xmlns:p14="http://schemas.microsoft.com/office/powerpoint/2010/main" val="2859130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4830"/>
            <a:ext cx="10515600" cy="5452134"/>
          </a:xfrm>
        </p:spPr>
        <p:txBody>
          <a:bodyPr>
            <a:normAutofit/>
          </a:bodyPr>
          <a:lstStyle/>
          <a:p>
            <a:pPr marL="0" indent="0" algn="just">
              <a:buNone/>
            </a:pPr>
            <a:r>
              <a:rPr lang="en-US" dirty="0"/>
              <a:t>This Memory Hierarchy Design is divided into 2 main types:</a:t>
            </a:r>
          </a:p>
          <a:p>
            <a:pPr algn="just" fontAlgn="base"/>
            <a:r>
              <a:rPr lang="en-US" b="1" dirty="0"/>
              <a:t>External Memory or Secondary Memory –</a:t>
            </a:r>
            <a:br>
              <a:rPr lang="en-US" dirty="0"/>
            </a:br>
            <a:r>
              <a:rPr lang="en-US" dirty="0"/>
              <a:t>Comprising of Magnetic Disk, Optical Disk, Magnetic Tape i.e. peripheral storage devices which are accessible by the processor via I/O Module.</a:t>
            </a:r>
          </a:p>
          <a:p>
            <a:pPr algn="just" fontAlgn="base"/>
            <a:r>
              <a:rPr lang="en-US" b="1" dirty="0"/>
              <a:t>Internal Memory or Primary Memory –</a:t>
            </a:r>
            <a:br>
              <a:rPr lang="en-US" dirty="0"/>
            </a:br>
            <a:r>
              <a:rPr lang="en-US" dirty="0"/>
              <a:t>Comprising of Main Memory, Cache Memory &amp; CPU registers. This is directly accessible by the processor.</a:t>
            </a:r>
          </a:p>
          <a:p>
            <a:pPr marL="0" indent="0" algn="just">
              <a:buNone/>
            </a:pPr>
            <a:endParaRPr lang="en-US" dirty="0"/>
          </a:p>
        </p:txBody>
      </p:sp>
    </p:spTree>
    <p:extLst>
      <p:ext uri="{BB962C8B-B14F-4D97-AF65-F5344CB8AC3E}">
        <p14:creationId xmlns:p14="http://schemas.microsoft.com/office/powerpoint/2010/main" val="4213292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685" y="457514"/>
            <a:ext cx="10515600" cy="5139900"/>
          </a:xfrm>
        </p:spPr>
        <p:txBody>
          <a:bodyPr/>
          <a:lstStyle/>
          <a:p>
            <a:pPr marL="0" indent="0" algn="just">
              <a:buNone/>
            </a:pPr>
            <a:r>
              <a:rPr lang="en-US" dirty="0"/>
              <a:t>As one goes down the hierarchy, the following occur:</a:t>
            </a:r>
          </a:p>
          <a:p>
            <a:pPr marL="0" indent="0" algn="just">
              <a:buNone/>
            </a:pPr>
            <a:r>
              <a:rPr lang="en-US" dirty="0"/>
              <a:t>a. Decreasing cost per bit</a:t>
            </a:r>
          </a:p>
          <a:p>
            <a:pPr marL="0" indent="0" algn="just">
              <a:buNone/>
            </a:pPr>
            <a:r>
              <a:rPr lang="en-US" dirty="0"/>
              <a:t>b. Increasing capacity</a:t>
            </a:r>
          </a:p>
          <a:p>
            <a:pPr marL="0" indent="0" algn="just">
              <a:buNone/>
            </a:pPr>
            <a:r>
              <a:rPr lang="en-US" dirty="0"/>
              <a:t>c. Increasing access time</a:t>
            </a:r>
          </a:p>
          <a:p>
            <a:pPr marL="0" indent="0" algn="just">
              <a:buNone/>
            </a:pPr>
            <a:r>
              <a:rPr lang="en-US" dirty="0"/>
              <a:t>d. Decreasing frequency of access of the memory by the processor</a:t>
            </a:r>
          </a:p>
          <a:p>
            <a:pPr algn="just"/>
            <a:r>
              <a:rPr lang="en-US" dirty="0"/>
              <a:t>Thus, smaller, more expensive, faster memories are supplemented by larger, cheaper, slower memories. The key to the success of this organization is item (d):decreasing frequency of access.</a:t>
            </a:r>
          </a:p>
          <a:p>
            <a:pPr marL="0" indent="0" algn="just">
              <a:buNone/>
            </a:pPr>
            <a:r>
              <a:rPr lang="en-US" dirty="0"/>
              <a:t>       </a:t>
            </a:r>
          </a:p>
        </p:txBody>
      </p:sp>
    </p:spTree>
    <p:extLst>
      <p:ext uri="{BB962C8B-B14F-4D97-AF65-F5344CB8AC3E}">
        <p14:creationId xmlns:p14="http://schemas.microsoft.com/office/powerpoint/2010/main" val="772105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39591" y="365125"/>
            <a:ext cx="7984272" cy="5970733"/>
          </a:xfrm>
          <a:prstGeom prst="rect">
            <a:avLst/>
          </a:prstGeom>
        </p:spPr>
      </p:pic>
    </p:spTree>
    <p:extLst>
      <p:ext uri="{BB962C8B-B14F-4D97-AF65-F5344CB8AC3E}">
        <p14:creationId xmlns:p14="http://schemas.microsoft.com/office/powerpoint/2010/main" val="4267014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838199" y="605882"/>
            <a:ext cx="10401217" cy="5047786"/>
          </a:xfrm>
          <a:prstGeom prst="rect">
            <a:avLst/>
          </a:prstGeom>
        </p:spPr>
      </p:pic>
    </p:spTree>
    <p:extLst>
      <p:ext uri="{BB962C8B-B14F-4D97-AF65-F5344CB8AC3E}">
        <p14:creationId xmlns:p14="http://schemas.microsoft.com/office/powerpoint/2010/main" val="335871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9207"/>
          </a:xfrm>
        </p:spPr>
        <p:txBody>
          <a:bodyPr>
            <a:normAutofit/>
          </a:bodyPr>
          <a:lstStyle/>
          <a:p>
            <a:r>
              <a:rPr lang="en-US" b="1" dirty="0"/>
              <a:t>Semiconductor main memory</a:t>
            </a:r>
            <a:endParaRPr lang="en-US" dirty="0"/>
          </a:p>
        </p:txBody>
      </p:sp>
      <p:sp>
        <p:nvSpPr>
          <p:cNvPr id="3" name="Content Placeholder 2"/>
          <p:cNvSpPr>
            <a:spLocks noGrp="1"/>
          </p:cNvSpPr>
          <p:nvPr>
            <p:ph idx="1"/>
          </p:nvPr>
        </p:nvSpPr>
        <p:spPr>
          <a:xfrm>
            <a:off x="838200" y="1204332"/>
            <a:ext cx="10515600" cy="4972631"/>
          </a:xfrm>
        </p:spPr>
        <p:txBody>
          <a:bodyPr>
            <a:normAutofit/>
          </a:bodyPr>
          <a:lstStyle/>
          <a:p>
            <a:pPr marL="0" indent="0" algn="just">
              <a:buNone/>
            </a:pPr>
            <a:r>
              <a:rPr lang="en-US" b="1" dirty="0"/>
              <a:t>DRAM and SRAM</a:t>
            </a:r>
          </a:p>
          <a:p>
            <a:pPr algn="just"/>
            <a:r>
              <a:rPr lang="en-US" dirty="0"/>
              <a:t>Table 5.1 lists the major types of semiconductor memory. The most common is referred to as </a:t>
            </a:r>
            <a:r>
              <a:rPr lang="en-US" i="1" dirty="0"/>
              <a:t>random-access memory </a:t>
            </a:r>
            <a:r>
              <a:rPr lang="en-US" dirty="0"/>
              <a:t>(RAM). One distinguishing characteristic of RAM is that it is possible both to read data from the memory and to write new data into the memory easily and rapidly. </a:t>
            </a:r>
          </a:p>
          <a:p>
            <a:pPr algn="just"/>
            <a:r>
              <a:rPr lang="en-US" dirty="0"/>
              <a:t>Both the reading and writing are accomplished through the use of electrical signals.</a:t>
            </a:r>
          </a:p>
          <a:p>
            <a:r>
              <a:rPr lang="en-US" dirty="0"/>
              <a:t>The other distinguishing characteristic of RAM is that it is volatile. A RAM must be provided with a constant power supply. If the power is interrupted, then the data are lost. Thus, RAM can be used only as temporary storage.</a:t>
            </a:r>
          </a:p>
          <a:p>
            <a:r>
              <a:rPr lang="en-US" dirty="0"/>
              <a:t>The two traditional forms of RAM used in computers are DRAM and SRAM</a:t>
            </a:r>
          </a:p>
        </p:txBody>
      </p:sp>
    </p:spTree>
    <p:extLst>
      <p:ext uri="{BB962C8B-B14F-4D97-AF65-F5344CB8AC3E}">
        <p14:creationId xmlns:p14="http://schemas.microsoft.com/office/powerpoint/2010/main" val="2288549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DYNAMIC RAM </a:t>
            </a:r>
          </a:p>
        </p:txBody>
      </p:sp>
      <p:sp>
        <p:nvSpPr>
          <p:cNvPr id="3" name="Content Placeholder 2"/>
          <p:cNvSpPr>
            <a:spLocks noGrp="1"/>
          </p:cNvSpPr>
          <p:nvPr>
            <p:ph idx="1"/>
          </p:nvPr>
        </p:nvSpPr>
        <p:spPr/>
        <p:txBody>
          <a:bodyPr/>
          <a:lstStyle/>
          <a:p>
            <a:pPr algn="just"/>
            <a:r>
              <a:rPr lang="en-IN" dirty="0"/>
              <a:t>RAM technology is divided into two technologies: dynamic and static. A dynamic RAM (DRAM) is made with cells that store data as charge on capacitors.</a:t>
            </a:r>
          </a:p>
          <a:p>
            <a:pPr algn="just"/>
            <a:r>
              <a:rPr lang="en-IN" dirty="0"/>
              <a:t>The presence or absence of charge in a capacitor is interpreted as a binary 1 or 0. Because capacitors have a natural tendency to discharge, dynamic RAMs require periodic charge refreshing to maintain data storage.</a:t>
            </a:r>
          </a:p>
        </p:txBody>
      </p:sp>
    </p:spTree>
    <p:extLst>
      <p:ext uri="{BB962C8B-B14F-4D97-AF65-F5344CB8AC3E}">
        <p14:creationId xmlns:p14="http://schemas.microsoft.com/office/powerpoint/2010/main" val="1564624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830547"/>
          </a:xfrm>
        </p:spPr>
        <p:txBody>
          <a:bodyPr/>
          <a:lstStyle/>
          <a:p>
            <a:r>
              <a:rPr lang="en-US" dirty="0"/>
              <a:t>Dynamic RAM CELL</a:t>
            </a:r>
          </a:p>
        </p:txBody>
      </p:sp>
      <p:pic>
        <p:nvPicPr>
          <p:cNvPr id="4" name="Content Placeholder 3"/>
          <p:cNvPicPr>
            <a:picLocks noGrp="1" noChangeAspect="1"/>
          </p:cNvPicPr>
          <p:nvPr>
            <p:ph idx="1"/>
          </p:nvPr>
        </p:nvPicPr>
        <p:blipFill>
          <a:blip r:embed="rId2"/>
          <a:stretch>
            <a:fillRect/>
          </a:stretch>
        </p:blipFill>
        <p:spPr>
          <a:xfrm>
            <a:off x="3974537" y="1220898"/>
            <a:ext cx="4138147" cy="5289084"/>
          </a:xfrm>
          <a:prstGeom prst="rect">
            <a:avLst/>
          </a:prstGeom>
        </p:spPr>
      </p:pic>
    </p:spTree>
    <p:extLst>
      <p:ext uri="{BB962C8B-B14F-4D97-AF65-F5344CB8AC3E}">
        <p14:creationId xmlns:p14="http://schemas.microsoft.com/office/powerpoint/2010/main" val="1784193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7730"/>
            <a:ext cx="10515600" cy="6540544"/>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Figure 5.2a is a typical DRAM structure for an individual cell that stores 1 bit.</a:t>
            </a:r>
          </a:p>
          <a:p>
            <a:pPr algn="just"/>
            <a:r>
              <a:rPr lang="en-US" dirty="0">
                <a:latin typeface="Times New Roman" panose="02020603050405020304" pitchFamily="18" charset="0"/>
                <a:cs typeface="Times New Roman" panose="02020603050405020304" pitchFamily="18" charset="0"/>
              </a:rPr>
              <a:t>The address line is activated when the bit value from this cell is to be read or written.</a:t>
            </a:r>
          </a:p>
          <a:p>
            <a:pPr algn="just"/>
            <a:r>
              <a:rPr lang="en-US" dirty="0">
                <a:latin typeface="Times New Roman" panose="02020603050405020304" pitchFamily="18" charset="0"/>
                <a:cs typeface="Times New Roman" panose="02020603050405020304" pitchFamily="18" charset="0"/>
              </a:rPr>
              <a:t>The transistor acts as a switch that is closed (allowing current to flow) if a voltage</a:t>
            </a:r>
          </a:p>
          <a:p>
            <a:pPr marL="0" indent="0" algn="just">
              <a:buNone/>
            </a:pPr>
            <a:r>
              <a:rPr lang="en-US" dirty="0">
                <a:latin typeface="Times New Roman" panose="02020603050405020304" pitchFamily="18" charset="0"/>
                <a:cs typeface="Times New Roman" panose="02020603050405020304" pitchFamily="18" charset="0"/>
              </a:rPr>
              <a:t> is applied to the address line and open (no current flows) if no voltage is present on</a:t>
            </a:r>
          </a:p>
          <a:p>
            <a:pPr marL="0" indent="0" algn="just">
              <a:buNone/>
            </a:pPr>
            <a:r>
              <a:rPr lang="en-US" dirty="0">
                <a:latin typeface="Times New Roman" panose="02020603050405020304" pitchFamily="18" charset="0"/>
                <a:cs typeface="Times New Roman" panose="02020603050405020304" pitchFamily="18" charset="0"/>
              </a:rPr>
              <a:t> the address line.</a:t>
            </a:r>
          </a:p>
          <a:p>
            <a:pPr algn="just"/>
            <a:r>
              <a:rPr lang="en-US" dirty="0">
                <a:latin typeface="Times New Roman" panose="02020603050405020304" pitchFamily="18" charset="0"/>
                <a:cs typeface="Times New Roman" panose="02020603050405020304" pitchFamily="18" charset="0"/>
              </a:rPr>
              <a:t>For the write operation, a voltage signal is applied to the bit line; a high voltage</a:t>
            </a:r>
          </a:p>
          <a:p>
            <a:pPr marL="0" indent="0" algn="just">
              <a:buNone/>
            </a:pPr>
            <a:r>
              <a:rPr lang="en-US" dirty="0">
                <a:latin typeface="Times New Roman" panose="02020603050405020304" pitchFamily="18" charset="0"/>
                <a:cs typeface="Times New Roman" panose="02020603050405020304" pitchFamily="18" charset="0"/>
              </a:rPr>
              <a:t>represents 1, and a low voltage represents 0. A signal is then applied to the address</a:t>
            </a:r>
          </a:p>
          <a:p>
            <a:pPr marL="0" indent="0" algn="just">
              <a:buNone/>
            </a:pPr>
            <a:r>
              <a:rPr lang="en-US" dirty="0">
                <a:latin typeface="Times New Roman" panose="02020603050405020304" pitchFamily="18" charset="0"/>
                <a:cs typeface="Times New Roman" panose="02020603050405020304" pitchFamily="18" charset="0"/>
              </a:rPr>
              <a:t>line, allowing a charge to be transferred to the capacitor.</a:t>
            </a:r>
          </a:p>
          <a:p>
            <a:pPr algn="just"/>
            <a:r>
              <a:rPr lang="en-US" dirty="0">
                <a:latin typeface="Times New Roman" panose="02020603050405020304" pitchFamily="18" charset="0"/>
                <a:cs typeface="Times New Roman" panose="02020603050405020304" pitchFamily="18" charset="0"/>
              </a:rPr>
              <a:t>For the read operation, when the address line is selected, the transistor turns on</a:t>
            </a:r>
          </a:p>
          <a:p>
            <a:pPr marL="0" indent="0" algn="just">
              <a:buNone/>
            </a:pPr>
            <a:r>
              <a:rPr lang="en-US" dirty="0">
                <a:latin typeface="Times New Roman" panose="02020603050405020304" pitchFamily="18" charset="0"/>
                <a:cs typeface="Times New Roman" panose="02020603050405020304" pitchFamily="18" charset="0"/>
              </a:rPr>
              <a:t> and the charge stored on the capacitor is fed out onto a bit line and to a sense</a:t>
            </a:r>
          </a:p>
          <a:p>
            <a:pPr marL="0" indent="0" algn="just">
              <a:buNone/>
            </a:pPr>
            <a:r>
              <a:rPr lang="en-US" dirty="0">
                <a:latin typeface="Times New Roman" panose="02020603050405020304" pitchFamily="18" charset="0"/>
                <a:cs typeface="Times New Roman" panose="02020603050405020304" pitchFamily="18" charset="0"/>
              </a:rPr>
              <a:t>amplifier. </a:t>
            </a:r>
          </a:p>
          <a:p>
            <a:pPr marL="0" indent="0" algn="just">
              <a:buNone/>
            </a:pPr>
            <a:r>
              <a:rPr lang="en-US" dirty="0">
                <a:latin typeface="Times New Roman" panose="02020603050405020304" pitchFamily="18" charset="0"/>
                <a:cs typeface="Times New Roman" panose="02020603050405020304" pitchFamily="18" charset="0"/>
              </a:rPr>
              <a:t>The sense amplifier compares the capacitor voltage to a reference value and </a:t>
            </a:r>
          </a:p>
          <a:p>
            <a:pPr marL="0" indent="0" algn="just">
              <a:buNone/>
            </a:pPr>
            <a:r>
              <a:rPr lang="en-US" dirty="0">
                <a:latin typeface="Times New Roman" panose="02020603050405020304" pitchFamily="18" charset="0"/>
                <a:cs typeface="Times New Roman" panose="02020603050405020304" pitchFamily="18" charset="0"/>
              </a:rPr>
              <a:t>determines if the cell contains a logic 1 or a logic 0. The readout from the cell</a:t>
            </a:r>
          </a:p>
          <a:p>
            <a:pPr marL="0" indent="0" algn="just">
              <a:buNone/>
            </a:pPr>
            <a:r>
              <a:rPr lang="en-US" dirty="0">
                <a:latin typeface="Times New Roman" panose="02020603050405020304" pitchFamily="18" charset="0"/>
                <a:cs typeface="Times New Roman" panose="02020603050405020304" pitchFamily="18" charset="0"/>
              </a:rPr>
              <a:t>discharges the capacitor, which must be restored to complete the operation.</a:t>
            </a:r>
          </a:p>
        </p:txBody>
      </p:sp>
    </p:spTree>
    <p:extLst>
      <p:ext uri="{BB962C8B-B14F-4D97-AF65-F5344CB8AC3E}">
        <p14:creationId xmlns:p14="http://schemas.microsoft.com/office/powerpoint/2010/main" val="2599319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SRAM Design</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62069" y="1058320"/>
            <a:ext cx="5319057" cy="5406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1551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321" y="223459"/>
            <a:ext cx="10515600" cy="356091"/>
          </a:xfrm>
        </p:spPr>
        <p:txBody>
          <a:bodyPr>
            <a:normAutofit fontScale="90000"/>
          </a:bodyPr>
          <a:lstStyle/>
          <a:p>
            <a:r>
              <a:rPr lang="en-IN" dirty="0"/>
              <a:t>Types of ROM</a:t>
            </a:r>
          </a:p>
        </p:txBody>
      </p:sp>
      <p:sp>
        <p:nvSpPr>
          <p:cNvPr id="3" name="Content Placeholder 2"/>
          <p:cNvSpPr>
            <a:spLocks noGrp="1"/>
          </p:cNvSpPr>
          <p:nvPr>
            <p:ph idx="1"/>
          </p:nvPr>
        </p:nvSpPr>
        <p:spPr>
          <a:xfrm>
            <a:off x="838200" y="759854"/>
            <a:ext cx="10515600" cy="5898523"/>
          </a:xfrm>
        </p:spPr>
        <p:txBody>
          <a:bodyPr>
            <a:normAutofit/>
          </a:bodyPr>
          <a:lstStyle/>
          <a:p>
            <a:pPr algn="just"/>
            <a:r>
              <a:rPr lang="en-IN" dirty="0"/>
              <a:t>Read-only memory (ROM) contains a permanent pattern of data that cannot be changed. </a:t>
            </a:r>
          </a:p>
          <a:p>
            <a:pPr algn="just"/>
            <a:r>
              <a:rPr lang="en-IN" dirty="0"/>
              <a:t>A ROM is </a:t>
            </a:r>
            <a:r>
              <a:rPr lang="en-IN" dirty="0" err="1"/>
              <a:t>nonvolatile</a:t>
            </a:r>
            <a:r>
              <a:rPr lang="en-IN" dirty="0"/>
              <a:t>; that is, no power source is required to maintain the bit values in memory.</a:t>
            </a:r>
          </a:p>
          <a:p>
            <a:pPr algn="just"/>
            <a:r>
              <a:rPr lang="en-IN" dirty="0"/>
              <a:t>While it is possible to read a ROM, it is not possible to write new data into it.</a:t>
            </a:r>
          </a:p>
          <a:p>
            <a:pPr algn="just"/>
            <a:r>
              <a:rPr lang="en-IN" dirty="0"/>
              <a:t>When only a small number of ROMs with a particular memory content is needed, a less expensive alternative is the </a:t>
            </a:r>
            <a:r>
              <a:rPr lang="en-IN" b="1" dirty="0"/>
              <a:t>programmable ROM </a:t>
            </a:r>
            <a:r>
              <a:rPr lang="en-IN" dirty="0"/>
              <a:t>(PROM). PROM is </a:t>
            </a:r>
            <a:r>
              <a:rPr lang="en-IN" dirty="0" err="1"/>
              <a:t>nonvolatile</a:t>
            </a:r>
            <a:r>
              <a:rPr lang="en-IN" dirty="0"/>
              <a:t> and may be written into only once. For the PROM, the writing process is performed electrically and may be performed by a supplier or. </a:t>
            </a:r>
            <a:r>
              <a:rPr lang="en-IN" b="1" dirty="0"/>
              <a:t>customer at a time later than the original chip fabrication. </a:t>
            </a:r>
            <a:r>
              <a:rPr lang="en-IN" dirty="0"/>
              <a:t>Special equipment is required for the writing or “programming” process</a:t>
            </a:r>
          </a:p>
          <a:p>
            <a:pPr algn="just"/>
            <a:r>
              <a:rPr lang="en-IN" dirty="0"/>
              <a:t>PROMs provide flexibility and convenience.</a:t>
            </a:r>
          </a:p>
          <a:p>
            <a:pPr algn="just"/>
            <a:r>
              <a:rPr lang="en-IN" dirty="0"/>
              <a:t>There are three common forms of read-mostly memory: EPROM, EEPROM, and flash memory</a:t>
            </a:r>
          </a:p>
          <a:p>
            <a:pPr algn="just"/>
            <a:r>
              <a:rPr lang="en-IN" dirty="0"/>
              <a:t>OTP: ONE TIME PROGRAMMABLE</a:t>
            </a:r>
          </a:p>
        </p:txBody>
      </p:sp>
    </p:spTree>
    <p:extLst>
      <p:ext uri="{BB962C8B-B14F-4D97-AF65-F5344CB8AC3E}">
        <p14:creationId xmlns:p14="http://schemas.microsoft.com/office/powerpoint/2010/main" val="2558802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0638"/>
          </a:xfrm>
        </p:spPr>
        <p:txBody>
          <a:bodyPr>
            <a:normAutofit fontScale="90000"/>
          </a:bodyPr>
          <a:lstStyle/>
          <a:p>
            <a:r>
              <a:rPr lang="en-IN" sz="3600" b="1" dirty="0"/>
              <a:t>Erasable programmable read-only memory (EPROM)</a:t>
            </a:r>
          </a:p>
        </p:txBody>
      </p:sp>
      <p:sp>
        <p:nvSpPr>
          <p:cNvPr id="3" name="Content Placeholder 2"/>
          <p:cNvSpPr>
            <a:spLocks noGrp="1"/>
          </p:cNvSpPr>
          <p:nvPr>
            <p:ph idx="1"/>
          </p:nvPr>
        </p:nvSpPr>
        <p:spPr>
          <a:xfrm>
            <a:off x="838200" y="1030310"/>
            <a:ext cx="10515600" cy="5576552"/>
          </a:xfrm>
        </p:spPr>
        <p:txBody>
          <a:bodyPr>
            <a:normAutofit/>
          </a:bodyPr>
          <a:lstStyle/>
          <a:p>
            <a:pPr algn="just"/>
            <a:r>
              <a:rPr lang="en-IN" dirty="0"/>
              <a:t>The optically erasable programmable read-only memory (EPROM) is read and written electrically, as with PROM. </a:t>
            </a:r>
          </a:p>
          <a:p>
            <a:pPr algn="just"/>
            <a:r>
              <a:rPr lang="en-IN" dirty="0"/>
              <a:t>However, before a write operation, all the storage cells must be erased to the same initial state by exposure of the packaged chip to ultraviolet radiation.</a:t>
            </a:r>
          </a:p>
          <a:p>
            <a:pPr algn="just"/>
            <a:r>
              <a:rPr lang="en-IN" dirty="0"/>
              <a:t> Erasure is performed by shining an intense ultraviolet light through a window that is designed into the memory chip. </a:t>
            </a:r>
          </a:p>
          <a:p>
            <a:pPr algn="just"/>
            <a:r>
              <a:rPr lang="en-IN" dirty="0"/>
              <a:t>This erasure process can be performed repeatedly; each erasure can take as much as 20 minutes to perform.</a:t>
            </a:r>
          </a:p>
          <a:p>
            <a:pPr algn="just"/>
            <a:r>
              <a:rPr lang="en-IN" dirty="0"/>
              <a:t>Thus, the EPROM can be altered multiple times and, like the ROM and PROM, holds its data virtually indefinitely. </a:t>
            </a:r>
          </a:p>
          <a:p>
            <a:pPr algn="just"/>
            <a:r>
              <a:rPr lang="en-IN" dirty="0"/>
              <a:t>For comparable amounts of storage, the EPROM is more expensive than PROM, but it has the advantage of the multiple update capability.</a:t>
            </a:r>
          </a:p>
        </p:txBody>
      </p:sp>
    </p:spTree>
    <p:extLst>
      <p:ext uri="{BB962C8B-B14F-4D97-AF65-F5344CB8AC3E}">
        <p14:creationId xmlns:p14="http://schemas.microsoft.com/office/powerpoint/2010/main" val="3578578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36336"/>
            <a:ext cx="11010363" cy="536395"/>
          </a:xfrm>
        </p:spPr>
        <p:txBody>
          <a:bodyPr>
            <a:normAutofit fontScale="90000"/>
          </a:bodyPr>
          <a:lstStyle/>
          <a:p>
            <a:r>
              <a:rPr lang="en-IN" sz="3200" b="1" dirty="0">
                <a:latin typeface="Times New Roman" panose="02020603050405020304" pitchFamily="18" charset="0"/>
                <a:cs typeface="Times New Roman" panose="02020603050405020304" pitchFamily="18" charset="0"/>
              </a:rPr>
              <a:t>Electrically Erasable Programmable read-only memory (EEPROM). </a:t>
            </a:r>
          </a:p>
        </p:txBody>
      </p:sp>
      <p:sp>
        <p:nvSpPr>
          <p:cNvPr id="3" name="Content Placeholder 2"/>
          <p:cNvSpPr>
            <a:spLocks noGrp="1"/>
          </p:cNvSpPr>
          <p:nvPr>
            <p:ph idx="1"/>
          </p:nvPr>
        </p:nvSpPr>
        <p:spPr>
          <a:xfrm>
            <a:off x="838200" y="1068945"/>
            <a:ext cx="10515600" cy="5589431"/>
          </a:xfrm>
        </p:spPr>
        <p:txBody>
          <a:bodyPr>
            <a:normAutofit/>
          </a:bodyPr>
          <a:lstStyle/>
          <a:p>
            <a:pPr algn="just"/>
            <a:r>
              <a:rPr lang="en-IN" dirty="0">
                <a:latin typeface="Times New Roman" panose="02020603050405020304" pitchFamily="18" charset="0"/>
                <a:cs typeface="Times New Roman" panose="02020603050405020304" pitchFamily="18" charset="0"/>
              </a:rPr>
              <a:t>A more attractive form of read-mostly memory is electrically erasable programmable read-only memory (EEPROM). </a:t>
            </a:r>
          </a:p>
          <a:p>
            <a:pPr algn="just"/>
            <a:r>
              <a:rPr lang="en-IN" dirty="0">
                <a:latin typeface="Times New Roman" panose="02020603050405020304" pitchFamily="18" charset="0"/>
                <a:cs typeface="Times New Roman" panose="02020603050405020304" pitchFamily="18" charset="0"/>
              </a:rPr>
              <a:t>This is a read-mostly memory that can be written into at any time without erasing prior contents; only the byte or bytes addressed are updated. </a:t>
            </a:r>
          </a:p>
          <a:p>
            <a:pPr algn="just"/>
            <a:r>
              <a:rPr lang="en-IN" dirty="0">
                <a:latin typeface="Times New Roman" panose="02020603050405020304" pitchFamily="18" charset="0"/>
                <a:cs typeface="Times New Roman" panose="02020603050405020304" pitchFamily="18" charset="0"/>
              </a:rPr>
              <a:t>The write operation takes considerably longer than the read operation, on the order of several hundred microseconds per byte.</a:t>
            </a:r>
          </a:p>
          <a:p>
            <a:pPr algn="just"/>
            <a:r>
              <a:rPr lang="en-IN" dirty="0">
                <a:latin typeface="Times New Roman" panose="02020603050405020304" pitchFamily="18" charset="0"/>
                <a:cs typeface="Times New Roman" panose="02020603050405020304" pitchFamily="18" charset="0"/>
              </a:rPr>
              <a:t>The EEPROM combines the advantage of </a:t>
            </a:r>
            <a:r>
              <a:rPr lang="en-IN" dirty="0" err="1">
                <a:latin typeface="Times New Roman" panose="02020603050405020304" pitchFamily="18" charset="0"/>
                <a:cs typeface="Times New Roman" panose="02020603050405020304" pitchFamily="18" charset="0"/>
              </a:rPr>
              <a:t>nonvolatility</a:t>
            </a:r>
            <a:r>
              <a:rPr lang="en-IN" dirty="0">
                <a:latin typeface="Times New Roman" panose="02020603050405020304" pitchFamily="18" charset="0"/>
                <a:cs typeface="Times New Roman" panose="02020603050405020304" pitchFamily="18" charset="0"/>
              </a:rPr>
              <a:t> with the flexibility of being updatable in place, using ordinary bus control, address, and data lines. </a:t>
            </a:r>
          </a:p>
          <a:p>
            <a:pPr algn="just"/>
            <a:r>
              <a:rPr lang="en-IN" dirty="0">
                <a:latin typeface="Times New Roman" panose="02020603050405020304" pitchFamily="18" charset="0"/>
                <a:cs typeface="Times New Roman" panose="02020603050405020304" pitchFamily="18" charset="0"/>
              </a:rPr>
              <a:t>EEPROM is more expensive than EPROM and also is less dense, supporting fewer bits per chip.</a:t>
            </a:r>
          </a:p>
        </p:txBody>
      </p:sp>
    </p:spTree>
    <p:extLst>
      <p:ext uri="{BB962C8B-B14F-4D97-AF65-F5344CB8AC3E}">
        <p14:creationId xmlns:p14="http://schemas.microsoft.com/office/powerpoint/2010/main" val="846653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2610"/>
          </a:xfrm>
        </p:spPr>
        <p:txBody>
          <a:bodyPr/>
          <a:lstStyle/>
          <a:p>
            <a:r>
              <a:rPr lang="en-IN" b="1" dirty="0"/>
              <a:t>Flash memory</a:t>
            </a:r>
          </a:p>
        </p:txBody>
      </p:sp>
      <p:sp>
        <p:nvSpPr>
          <p:cNvPr id="3" name="Content Placeholder 2"/>
          <p:cNvSpPr>
            <a:spLocks noGrp="1"/>
          </p:cNvSpPr>
          <p:nvPr>
            <p:ph idx="1"/>
          </p:nvPr>
        </p:nvSpPr>
        <p:spPr>
          <a:xfrm>
            <a:off x="838200" y="1249250"/>
            <a:ext cx="10515600" cy="5267459"/>
          </a:xfrm>
        </p:spPr>
        <p:txBody>
          <a:bodyPr>
            <a:noAutofit/>
          </a:bodyPr>
          <a:lstStyle/>
          <a:p>
            <a:r>
              <a:rPr lang="en-IN" dirty="0"/>
              <a:t>Flash memory is intermediate between EPROM and EEPROM in both cost and functionality.</a:t>
            </a:r>
          </a:p>
          <a:p>
            <a:r>
              <a:rPr lang="en-IN" dirty="0"/>
              <a:t> Like EEPROM, flash memory uses an electrical erasing technology.</a:t>
            </a:r>
          </a:p>
          <a:p>
            <a:r>
              <a:rPr lang="en-IN" dirty="0"/>
              <a:t>An entire flash memory can be erased in one or a few seconds, which is much faster than EPROM.</a:t>
            </a:r>
          </a:p>
          <a:p>
            <a:r>
              <a:rPr lang="en-IN" dirty="0"/>
              <a:t>In addition, it is possible to erase just blocks of memory rather than an entire chip. </a:t>
            </a:r>
          </a:p>
          <a:p>
            <a:r>
              <a:rPr lang="en-IN" dirty="0"/>
              <a:t>Flash memory gets its name because the microchip is organized so that a section of memory cells are erased in a single action or “flash.”</a:t>
            </a:r>
          </a:p>
        </p:txBody>
      </p:sp>
    </p:spTree>
    <p:extLst>
      <p:ext uri="{BB962C8B-B14F-4D97-AF65-F5344CB8AC3E}">
        <p14:creationId xmlns:p14="http://schemas.microsoft.com/office/powerpoint/2010/main" val="1094189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321" y="262095"/>
            <a:ext cx="10515600" cy="510638"/>
          </a:xfrm>
        </p:spPr>
        <p:txBody>
          <a:bodyPr>
            <a:normAutofit/>
          </a:bodyPr>
          <a:lstStyle/>
          <a:p>
            <a:r>
              <a:rPr lang="en-IN" sz="2800" b="1" dirty="0"/>
              <a:t>CACHE MEMORY : CACHE MEMORY PRINCIPLES</a:t>
            </a:r>
          </a:p>
        </p:txBody>
      </p:sp>
      <p:sp>
        <p:nvSpPr>
          <p:cNvPr id="3" name="Content Placeholder 2"/>
          <p:cNvSpPr>
            <a:spLocks noGrp="1"/>
          </p:cNvSpPr>
          <p:nvPr>
            <p:ph idx="1"/>
          </p:nvPr>
        </p:nvSpPr>
        <p:spPr>
          <a:xfrm>
            <a:off x="309093" y="759855"/>
            <a:ext cx="11706896" cy="5692460"/>
          </a:xfrm>
        </p:spPr>
        <p:txBody>
          <a:bodyPr>
            <a:normAutofit/>
          </a:bodyPr>
          <a:lstStyle/>
          <a:p>
            <a:pPr algn="just"/>
            <a:r>
              <a:rPr lang="en-IN" dirty="0"/>
              <a:t>Cache memory is intended to give memory speed approaching that of the fastest memories available, and at the same time provide a large memory size at the price of less expensive types of semiconductor memories. </a:t>
            </a:r>
          </a:p>
          <a:p>
            <a:pPr algn="just"/>
            <a:r>
              <a:rPr lang="en-IN" dirty="0"/>
              <a:t>The concept is illustrated in Figure 4.3a. </a:t>
            </a:r>
          </a:p>
          <a:p>
            <a:pPr algn="just"/>
            <a:endParaRPr lang="en-IN" dirty="0"/>
          </a:p>
          <a:p>
            <a:pPr algn="just"/>
            <a:endParaRPr lang="en-IN" dirty="0"/>
          </a:p>
          <a:p>
            <a:pPr algn="just"/>
            <a:endParaRPr lang="en-IN" b="1" dirty="0"/>
          </a:p>
          <a:p>
            <a:pPr algn="just"/>
            <a:endParaRPr lang="en-IN" b="1" dirty="0"/>
          </a:p>
          <a:p>
            <a:pPr algn="just"/>
            <a:endParaRPr lang="en-IN" b="1" dirty="0"/>
          </a:p>
          <a:p>
            <a:pPr algn="just"/>
            <a:endParaRPr lang="en-IN" b="1" dirty="0"/>
          </a:p>
          <a:p>
            <a:pPr algn="just"/>
            <a:r>
              <a:rPr lang="en-IN" dirty="0"/>
              <a:t>There is a relatively large and slow main memory together with a smaller, faster cache memory. The cache contains a copy of portions of main memory.</a:t>
            </a:r>
          </a:p>
          <a:p>
            <a:pPr algn="just"/>
            <a:r>
              <a:rPr lang="en-IN" dirty="0"/>
              <a:t>When the processor attempts to read a word of memory, a check is made to</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881" y="2496221"/>
            <a:ext cx="7688687" cy="26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32161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2428" y="347730"/>
            <a:ext cx="11114468" cy="5829233"/>
          </a:xfrm>
        </p:spPr>
        <p:txBody>
          <a:bodyPr/>
          <a:lstStyle/>
          <a:p>
            <a:pPr marL="0" indent="0" algn="just">
              <a:buNone/>
            </a:pPr>
            <a:r>
              <a:rPr lang="en-IN" dirty="0"/>
              <a:t>determine if the word is in the cache. </a:t>
            </a:r>
          </a:p>
          <a:p>
            <a:pPr algn="just"/>
            <a:r>
              <a:rPr lang="en-IN" dirty="0"/>
              <a:t>If so, the word is delivered to the processor. If not, a block of main memory, consisting of some fixed number of words, is read into the cache and then the word is delivered to the processor.</a:t>
            </a:r>
          </a:p>
          <a:p>
            <a:pPr algn="just"/>
            <a:r>
              <a:rPr lang="en-IN" dirty="0"/>
              <a:t>Figure 4.3b depicts the use of multiple levels of cache. The L2 cache is slower and typically larger than the L1 cache, and the L3 cache is slower and typically larger than the L2 cache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537" y="3432174"/>
            <a:ext cx="6198852" cy="3312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1981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2124"/>
            <a:ext cx="10515600" cy="5764839"/>
          </a:xfrm>
        </p:spPr>
        <p:txBody>
          <a:bodyPr/>
          <a:lstStyle/>
          <a:p>
            <a:pPr algn="just"/>
            <a:r>
              <a:rPr lang="en-IN" dirty="0"/>
              <a:t>Cache is a type of memory that is used to increase the speed of data access. Normally, the data required for any process resides in the main memory. However, it is transferred to the cache memory temporarily if it is used frequently enough.</a:t>
            </a:r>
          </a:p>
          <a:p>
            <a:pPr algn="just"/>
            <a:r>
              <a:rPr lang="en-IN" dirty="0"/>
              <a:t>A diagram to better understand the data transfer in cache management is as follows −</a:t>
            </a:r>
          </a:p>
          <a:p>
            <a:pPr algn="just"/>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067" y="2159492"/>
            <a:ext cx="10769040" cy="3648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1371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8216"/>
          </a:xfrm>
        </p:spPr>
        <p:txBody>
          <a:bodyPr>
            <a:normAutofit fontScale="90000"/>
          </a:bodyPr>
          <a:lstStyle/>
          <a:p>
            <a:r>
              <a:rPr lang="en-IN" b="1" dirty="0"/>
              <a:t>Cache Performance</a:t>
            </a:r>
            <a:endParaRPr lang="en-IN" dirty="0"/>
          </a:p>
        </p:txBody>
      </p:sp>
      <p:sp>
        <p:nvSpPr>
          <p:cNvPr id="3" name="Content Placeholder 2"/>
          <p:cNvSpPr>
            <a:spLocks noGrp="1"/>
          </p:cNvSpPr>
          <p:nvPr>
            <p:ph idx="1"/>
          </p:nvPr>
        </p:nvSpPr>
        <p:spPr>
          <a:xfrm>
            <a:off x="838200" y="1184856"/>
            <a:ext cx="10515600" cy="4992107"/>
          </a:xfrm>
        </p:spPr>
        <p:txBody>
          <a:bodyPr>
            <a:normAutofit/>
          </a:bodyPr>
          <a:lstStyle/>
          <a:p>
            <a:pPr algn="just"/>
            <a:r>
              <a:rPr lang="en-IN" dirty="0">
                <a:solidFill>
                  <a:schemeClr val="tx1"/>
                </a:solidFill>
                <a:latin typeface="Times New Roman" panose="02020603050405020304" pitchFamily="18" charset="0"/>
                <a:cs typeface="Times New Roman" panose="02020603050405020304" pitchFamily="18" charset="0"/>
              </a:rPr>
              <a:t>The cache performance can be explained using the following steps −</a:t>
            </a:r>
          </a:p>
          <a:p>
            <a:pPr algn="just">
              <a:buFont typeface="Wingdings" panose="05000000000000000000" pitchFamily="2" charset="2"/>
              <a:buChar char="§"/>
            </a:pPr>
            <a:r>
              <a:rPr lang="en-IN" dirty="0">
                <a:solidFill>
                  <a:schemeClr val="tx1"/>
                </a:solidFill>
                <a:latin typeface="Times New Roman" panose="02020603050405020304" pitchFamily="18" charset="0"/>
                <a:cs typeface="Times New Roman" panose="02020603050405020304" pitchFamily="18" charset="0"/>
              </a:rPr>
              <a:t>If a process needs some data, it first searches in the cache memory. If the data is available in the cache, this is termed as a </a:t>
            </a:r>
            <a:r>
              <a:rPr lang="en-IN" b="1" dirty="0">
                <a:solidFill>
                  <a:schemeClr val="tx1"/>
                </a:solidFill>
                <a:latin typeface="Times New Roman" panose="02020603050405020304" pitchFamily="18" charset="0"/>
                <a:cs typeface="Times New Roman" panose="02020603050405020304" pitchFamily="18" charset="0"/>
              </a:rPr>
              <a:t>cache hit </a:t>
            </a:r>
            <a:r>
              <a:rPr lang="en-IN" dirty="0">
                <a:solidFill>
                  <a:schemeClr val="tx1"/>
                </a:solidFill>
                <a:latin typeface="Times New Roman" panose="02020603050405020304" pitchFamily="18" charset="0"/>
                <a:cs typeface="Times New Roman" panose="02020603050405020304" pitchFamily="18" charset="0"/>
              </a:rPr>
              <a:t>and the data is accessed as required.</a:t>
            </a:r>
          </a:p>
          <a:p>
            <a:pPr algn="just">
              <a:buFont typeface="Wingdings" panose="05000000000000000000" pitchFamily="2" charset="2"/>
              <a:buChar char="§"/>
            </a:pPr>
            <a:r>
              <a:rPr lang="en-IN" dirty="0">
                <a:solidFill>
                  <a:schemeClr val="tx1"/>
                </a:solidFill>
                <a:latin typeface="Times New Roman" panose="02020603050405020304" pitchFamily="18" charset="0"/>
                <a:cs typeface="Times New Roman" panose="02020603050405020304" pitchFamily="18" charset="0"/>
              </a:rPr>
              <a:t>If the data is not in the cache then it is termed as </a:t>
            </a:r>
            <a:r>
              <a:rPr lang="en-IN" b="1" dirty="0">
                <a:solidFill>
                  <a:schemeClr val="tx1"/>
                </a:solidFill>
                <a:latin typeface="Times New Roman" panose="02020603050405020304" pitchFamily="18" charset="0"/>
                <a:cs typeface="Times New Roman" panose="02020603050405020304" pitchFamily="18" charset="0"/>
              </a:rPr>
              <a:t>a cache miss</a:t>
            </a:r>
            <a:r>
              <a:rPr lang="en-IN" dirty="0">
                <a:solidFill>
                  <a:schemeClr val="tx1"/>
                </a:solidFill>
                <a:latin typeface="Times New Roman" panose="02020603050405020304" pitchFamily="18" charset="0"/>
                <a:cs typeface="Times New Roman" panose="02020603050405020304" pitchFamily="18" charset="0"/>
              </a:rPr>
              <a:t>. Then the data is obtained from the main memory. After that the data is transferred to the cache memory under the assumption that it will be needed again.</a:t>
            </a:r>
          </a:p>
          <a:p>
            <a:pPr algn="just">
              <a:buFont typeface="Wingdings" panose="05000000000000000000" pitchFamily="2" charset="2"/>
              <a:buChar char="§"/>
            </a:pPr>
            <a:r>
              <a:rPr lang="en-IN" dirty="0">
                <a:solidFill>
                  <a:schemeClr val="tx1"/>
                </a:solidFill>
                <a:latin typeface="Times New Roman" panose="02020603050405020304" pitchFamily="18" charset="0"/>
                <a:cs typeface="Times New Roman" panose="02020603050405020304" pitchFamily="18" charset="0"/>
              </a:rPr>
              <a:t>The performance of the cache is measured using the hit ratio. It is the number of cache hits divided by the total cache accesses. The formula for this is:</a:t>
            </a:r>
          </a:p>
          <a:p>
            <a:pPr algn="just"/>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1951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058" y="201825"/>
            <a:ext cx="9332824" cy="23727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445" y="2246021"/>
            <a:ext cx="9696048" cy="44925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07903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920" y="352425"/>
            <a:ext cx="11829115" cy="46188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0693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701"/>
            <a:ext cx="10515600" cy="5507262"/>
          </a:xfrm>
        </p:spPr>
        <p:txBody>
          <a:bodyPr/>
          <a:lstStyle/>
          <a:p>
            <a:pPr algn="just"/>
            <a:r>
              <a:rPr lang="en-IN" b="1" dirty="0"/>
              <a:t>Disadvantages of Cache Memory</a:t>
            </a:r>
          </a:p>
          <a:p>
            <a:pPr algn="just"/>
            <a:r>
              <a:rPr lang="en-IN" dirty="0"/>
              <a:t>Some of the disadvantages of cache memory are as follows −</a:t>
            </a:r>
          </a:p>
          <a:p>
            <a:pPr algn="just"/>
            <a:r>
              <a:rPr lang="en-IN" dirty="0"/>
              <a:t>Since the cache memory is quite fast, it is extremely useful in any computer system. However, it is also quite expensive.</a:t>
            </a:r>
          </a:p>
          <a:p>
            <a:pPr algn="just"/>
            <a:r>
              <a:rPr lang="en-IN" dirty="0"/>
              <a:t>The cache is memory expensive as observed from the previous point. Also, it is located directly on the processor chip. Because of these reasons, it has a limited capacity and is much smaller than main memory.</a:t>
            </a:r>
          </a:p>
          <a:p>
            <a:endParaRPr lang="en-IN" dirty="0"/>
          </a:p>
        </p:txBody>
      </p:sp>
    </p:spTree>
    <p:extLst>
      <p:ext uri="{BB962C8B-B14F-4D97-AF65-F5344CB8AC3E}">
        <p14:creationId xmlns:p14="http://schemas.microsoft.com/office/powerpoint/2010/main" val="22578704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8064"/>
          </a:xfrm>
        </p:spPr>
        <p:txBody>
          <a:bodyPr>
            <a:normAutofit fontScale="90000"/>
          </a:bodyPr>
          <a:lstStyle/>
          <a:p>
            <a:r>
              <a:rPr lang="en-IN" dirty="0"/>
              <a:t>Virtual memory</a:t>
            </a:r>
          </a:p>
        </p:txBody>
      </p:sp>
      <p:sp>
        <p:nvSpPr>
          <p:cNvPr id="3" name="Content Placeholder 2"/>
          <p:cNvSpPr>
            <a:spLocks noGrp="1"/>
          </p:cNvSpPr>
          <p:nvPr>
            <p:ph idx="1"/>
          </p:nvPr>
        </p:nvSpPr>
        <p:spPr>
          <a:xfrm>
            <a:off x="180304" y="1030310"/>
            <a:ext cx="11173496" cy="5146653"/>
          </a:xfrm>
        </p:spPr>
        <p:txBody>
          <a:bodyPr>
            <a:normAutofit/>
          </a:bodyPr>
          <a:lstStyle/>
          <a:p>
            <a:pPr algn="just"/>
            <a:r>
              <a:rPr lang="en-IN" dirty="0"/>
              <a:t>A computer can address more memory than the amount physically installed on the system. This extra memory is actually called virtual memory and it is a section of a hard disk that's set up to emulate the computer's RAM.</a:t>
            </a:r>
          </a:p>
          <a:p>
            <a:pPr algn="just"/>
            <a:r>
              <a:rPr lang="en-IN" dirty="0"/>
              <a:t>The main visible advantage of this scheme is that programs can be larger than physical memory.</a:t>
            </a:r>
          </a:p>
          <a:p>
            <a:pPr algn="just"/>
            <a:r>
              <a:rPr lang="en-IN" dirty="0"/>
              <a:t>In essence, virtual memory is a facility that allows programs to address memory from a logical point of view, without regard to the amount of main memory physically available.</a:t>
            </a:r>
          </a:p>
          <a:p>
            <a:pPr algn="just"/>
            <a:r>
              <a:rPr lang="en-IN" dirty="0"/>
              <a:t>When virtual memory is used, the address fields of machine instructions contain virtual addresses. For reads to and writes from main memory, a hardware memory management unit (MMU) translates each virtual address into a physical address in main memory</a:t>
            </a:r>
          </a:p>
        </p:txBody>
      </p:sp>
    </p:spTree>
    <p:extLst>
      <p:ext uri="{BB962C8B-B14F-4D97-AF65-F5344CB8AC3E}">
        <p14:creationId xmlns:p14="http://schemas.microsoft.com/office/powerpoint/2010/main" val="1785358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9991" y="866778"/>
            <a:ext cx="9997712" cy="3846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1464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Virtual Memory Works?</a:t>
            </a:r>
            <a:br>
              <a:rPr lang="en-IN" dirty="0"/>
            </a:br>
            <a:endParaRPr lang="en-IN" dirty="0"/>
          </a:p>
        </p:txBody>
      </p:sp>
      <p:sp>
        <p:nvSpPr>
          <p:cNvPr id="3" name="Content Placeholder 2"/>
          <p:cNvSpPr>
            <a:spLocks noGrp="1"/>
          </p:cNvSpPr>
          <p:nvPr>
            <p:ph idx="1"/>
          </p:nvPr>
        </p:nvSpPr>
        <p:spPr>
          <a:xfrm>
            <a:off x="838200" y="1146220"/>
            <a:ext cx="10515600" cy="5030743"/>
          </a:xfrm>
        </p:spPr>
        <p:txBody>
          <a:bodyPr>
            <a:normAutofit/>
          </a:bodyPr>
          <a:lstStyle/>
          <a:p>
            <a:pPr algn="just"/>
            <a:r>
              <a:rPr lang="en-IN" dirty="0"/>
              <a:t>In modern word, virtual memory has become quite common these days. In this scheme, whenever some pages needs to be loaded in the main memory for the execution and the memory is not available for those many pages, then in that case, instead of stopping the pages from entering in the main memory, the OS search for the RAM area that are least used in the recent times or that are not referenced and copy that into the secondary memory to make the space for the new pages in the main memory.</a:t>
            </a:r>
          </a:p>
          <a:p>
            <a:pPr algn="just"/>
            <a:r>
              <a:rPr lang="en-IN" dirty="0"/>
              <a:t>Since all this procedure happens automatically, therefore it makes the computer feel like it is having the unlimited RAM.</a:t>
            </a:r>
          </a:p>
        </p:txBody>
      </p:sp>
    </p:spTree>
    <p:extLst>
      <p:ext uri="{BB962C8B-B14F-4D97-AF65-F5344CB8AC3E}">
        <p14:creationId xmlns:p14="http://schemas.microsoft.com/office/powerpoint/2010/main" val="786625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3639"/>
            <a:ext cx="10515600" cy="5713324"/>
          </a:xfrm>
        </p:spPr>
        <p:txBody>
          <a:bodyPr>
            <a:normAutofit/>
          </a:bodyPr>
          <a:lstStyle/>
          <a:p>
            <a:pPr algn="just"/>
            <a:r>
              <a:rPr lang="en-IN" dirty="0"/>
              <a:t>Virtual memory uses hardware and software to allow a computer to compensate for physical memory shortages, by temporarily transferring data from random access memory (</a:t>
            </a:r>
            <a:r>
              <a:rPr lang="en-IN" dirty="0">
                <a:hlinkClick r:id="rId2"/>
              </a:rPr>
              <a:t>RAM</a:t>
            </a:r>
            <a:r>
              <a:rPr lang="en-IN" dirty="0"/>
              <a:t>) to disk storage. In essence, virtual memory allows a computer to treat secondary memory </a:t>
            </a:r>
          </a:p>
          <a:p>
            <a:pPr algn="just"/>
            <a:r>
              <a:rPr lang="en-IN" dirty="0"/>
              <a:t>Today, most PCs come with up to around 4 GB of RAM. However, sometimes this isn't enough to run all the programs a user might want to use at once. This is where virtual memory comes in. Virtual memory can be used to swap data that has not been used recently -- and move it over to a storage device like a hard drive. This will free up more space on the RAM as though it were the main memory.</a:t>
            </a:r>
          </a:p>
          <a:p>
            <a:pPr algn="just"/>
            <a:r>
              <a:rPr lang="en-IN" dirty="0"/>
              <a:t>Virtual memory is important for </a:t>
            </a:r>
            <a:r>
              <a:rPr lang="en-IN" dirty="0">
                <a:hlinkClick r:id="rId3"/>
              </a:rPr>
              <a:t>improving system performance</a:t>
            </a:r>
            <a:r>
              <a:rPr lang="en-IN" dirty="0"/>
              <a:t>, multitasking, using large programs and flexibility. </a:t>
            </a:r>
          </a:p>
        </p:txBody>
      </p:sp>
    </p:spTree>
    <p:extLst>
      <p:ext uri="{BB962C8B-B14F-4D97-AF65-F5344CB8AC3E}">
        <p14:creationId xmlns:p14="http://schemas.microsoft.com/office/powerpoint/2010/main" val="1276071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697014"/>
          </a:xfrm>
        </p:spPr>
        <p:txBody>
          <a:bodyPr>
            <a:normAutofit fontScale="92500" lnSpcReduction="10000"/>
          </a:bodyPr>
          <a:lstStyle/>
          <a:p>
            <a:pPr marL="0" indent="0">
              <a:buNone/>
            </a:pPr>
            <a:r>
              <a:rPr lang="en-IN" dirty="0"/>
              <a:t>Virtual memory &amp; Cache memory</a:t>
            </a:r>
          </a:p>
          <a:p>
            <a:pPr marL="0" indent="0">
              <a:buNone/>
            </a:pPr>
            <a:r>
              <a:rPr lang="en-IN" dirty="0"/>
              <a:t>1	Definition : For Virtual memory as mentioned above Virtual memory is not a memory but a technique to increase the actual memory of the system.	</a:t>
            </a:r>
          </a:p>
          <a:p>
            <a:pPr marL="0" indent="0">
              <a:buNone/>
            </a:pPr>
            <a:r>
              <a:rPr lang="en-IN" dirty="0"/>
              <a:t>On other hand Cache memory is actual memory unit which supports the main memory which as result increases the accessing speed of CPU.</a:t>
            </a:r>
          </a:p>
          <a:p>
            <a:pPr marL="0" indent="0">
              <a:buNone/>
            </a:pPr>
            <a:r>
              <a:rPr lang="en-IN" dirty="0"/>
              <a:t>2	Type: Virtual memory is not a memory unit while it is a technique in order to increase the actual memory of the system.	</a:t>
            </a:r>
          </a:p>
          <a:p>
            <a:pPr marL="0" indent="0">
              <a:buNone/>
            </a:pPr>
            <a:r>
              <a:rPr lang="en-IN" dirty="0"/>
              <a:t>On other hand Cache memory is actual memory unit.</a:t>
            </a:r>
          </a:p>
          <a:p>
            <a:pPr marL="0" indent="0">
              <a:buNone/>
            </a:pPr>
            <a:r>
              <a:rPr lang="en-IN" dirty="0"/>
              <a:t>3	Size: Virtual memory is large in size as compare to that of cache </a:t>
            </a:r>
            <a:r>
              <a:rPr lang="en-IN" dirty="0" err="1"/>
              <a:t>memory.On</a:t>
            </a:r>
            <a:r>
              <a:rPr lang="en-IN" dirty="0"/>
              <a:t> other hand Cache memory is smaller in size as compare to that of virtual memory.</a:t>
            </a:r>
          </a:p>
          <a:p>
            <a:pPr marL="0" indent="0">
              <a:buNone/>
            </a:pPr>
            <a:r>
              <a:rPr lang="en-IN" dirty="0"/>
              <a:t>4	Data storage: 	In case of Virtual memory no data is get stored in this memory for increasing speed of accessing the data.	</a:t>
            </a:r>
          </a:p>
          <a:p>
            <a:pPr marL="0" indent="0">
              <a:buNone/>
            </a:pPr>
            <a:r>
              <a:rPr lang="en-IN" dirty="0"/>
              <a:t>On other hand in case of cache memory application first fetched from main memory then its copy get stored in cache memory so that from next time application get fetched from cache memory not from main memory which increasing speed of accessing the data.</a:t>
            </a:r>
          </a:p>
          <a:p>
            <a:pPr marL="0" indent="0">
              <a:buNone/>
            </a:pPr>
            <a:r>
              <a:rPr lang="en-IN" dirty="0"/>
              <a:t>5	Management	Virtual memory is mainly manages by operating system of the system.	</a:t>
            </a:r>
          </a:p>
          <a:p>
            <a:pPr marL="0" indent="0">
              <a:buNone/>
            </a:pPr>
            <a:r>
              <a:rPr lang="en-IN" dirty="0"/>
              <a:t>While cache memory is manages by the hardware of the system.</a:t>
            </a:r>
          </a:p>
        </p:txBody>
      </p:sp>
    </p:spTree>
    <p:extLst>
      <p:ext uri="{BB962C8B-B14F-4D97-AF65-F5344CB8AC3E}">
        <p14:creationId xmlns:p14="http://schemas.microsoft.com/office/powerpoint/2010/main" val="7704947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250510" cy="665185"/>
          </a:xfrm>
        </p:spPr>
        <p:txBody>
          <a:bodyPr>
            <a:normAutofit fontScale="90000"/>
          </a:bodyPr>
          <a:lstStyle/>
          <a:p>
            <a:r>
              <a:rPr lang="en-IN" dirty="0"/>
              <a:t>Advantages of Virtual Memory</a:t>
            </a:r>
          </a:p>
        </p:txBody>
      </p:sp>
      <p:sp>
        <p:nvSpPr>
          <p:cNvPr id="3" name="Content Placeholder 2"/>
          <p:cNvSpPr>
            <a:spLocks noGrp="1"/>
          </p:cNvSpPr>
          <p:nvPr>
            <p:ph idx="1"/>
          </p:nvPr>
        </p:nvSpPr>
        <p:spPr>
          <a:xfrm>
            <a:off x="838200" y="1094704"/>
            <a:ext cx="10515600" cy="5082259"/>
          </a:xfrm>
        </p:spPr>
        <p:txBody>
          <a:bodyPr/>
          <a:lstStyle/>
          <a:p>
            <a:r>
              <a:rPr lang="en-IN" dirty="0"/>
              <a:t>The degree of Multiprogramming will be increased.</a:t>
            </a:r>
          </a:p>
          <a:p>
            <a:r>
              <a:rPr lang="en-IN" dirty="0"/>
              <a:t>User can run large application with less real RAM.</a:t>
            </a:r>
          </a:p>
          <a:p>
            <a:r>
              <a:rPr lang="en-IN" dirty="0"/>
              <a:t>There is no need to buy more memory RAMs.</a:t>
            </a:r>
          </a:p>
          <a:p>
            <a:pPr marL="0" indent="0">
              <a:buNone/>
            </a:pPr>
            <a:endParaRPr lang="en-IN" b="1" dirty="0"/>
          </a:p>
          <a:p>
            <a:pPr marL="0" indent="0">
              <a:buNone/>
            </a:pPr>
            <a:r>
              <a:rPr lang="en-IN" b="1" dirty="0"/>
              <a:t>Disadvantages of Virtual Memory</a:t>
            </a:r>
          </a:p>
          <a:p>
            <a:r>
              <a:rPr lang="en-IN" dirty="0"/>
              <a:t>The system becomes slower since swapping takes time.</a:t>
            </a:r>
          </a:p>
          <a:p>
            <a:r>
              <a:rPr lang="en-IN" dirty="0"/>
              <a:t>It takes more time in switching between applications.</a:t>
            </a:r>
          </a:p>
          <a:p>
            <a:r>
              <a:rPr lang="en-IN" dirty="0"/>
              <a:t>The user will have the lesser hard disk space for its use.</a:t>
            </a:r>
          </a:p>
        </p:txBody>
      </p:sp>
    </p:spTree>
    <p:extLst>
      <p:ext uri="{BB962C8B-B14F-4D97-AF65-F5344CB8AC3E}">
        <p14:creationId xmlns:p14="http://schemas.microsoft.com/office/powerpoint/2010/main" val="3846235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DIRECT MEMORY ACCESS</a:t>
            </a:r>
            <a:endParaRPr lang="en-IN" dirty="0"/>
          </a:p>
        </p:txBody>
      </p:sp>
      <p:sp>
        <p:nvSpPr>
          <p:cNvPr id="3" name="Content Placeholder 2"/>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DMA involves an additional module on the system bus. </a:t>
            </a:r>
          </a:p>
          <a:p>
            <a:pPr algn="just"/>
            <a:r>
              <a:rPr lang="en-IN" dirty="0">
                <a:latin typeface="Times New Roman" panose="02020603050405020304" pitchFamily="18" charset="0"/>
                <a:cs typeface="Times New Roman" panose="02020603050405020304" pitchFamily="18" charset="0"/>
              </a:rPr>
              <a:t>The DMA is capable of taking over control of the system from the processor. It needs to do this to transfer data to and from memory over the system bus. </a:t>
            </a:r>
          </a:p>
          <a:p>
            <a:pPr algn="just"/>
            <a:r>
              <a:rPr lang="en-IN" dirty="0">
                <a:latin typeface="Times New Roman" panose="02020603050405020304" pitchFamily="18" charset="0"/>
                <a:cs typeface="Times New Roman" panose="02020603050405020304" pitchFamily="18" charset="0"/>
              </a:rPr>
              <a:t>For this purpose, the DMA module must use the bus only when the processor does not need it, or it must force the processor to suspend  operation temporarily. </a:t>
            </a:r>
          </a:p>
          <a:p>
            <a:pPr algn="just"/>
            <a:r>
              <a:rPr lang="en-IN" dirty="0">
                <a:latin typeface="Times New Roman" panose="02020603050405020304" pitchFamily="18" charset="0"/>
                <a:cs typeface="Times New Roman" panose="02020603050405020304" pitchFamily="18" charset="0"/>
              </a:rPr>
              <a:t>The latter technique is more common and is referred to as </a:t>
            </a:r>
            <a:r>
              <a:rPr lang="en-IN" b="1" i="1" dirty="0">
                <a:latin typeface="Times New Roman" panose="02020603050405020304" pitchFamily="18" charset="0"/>
                <a:cs typeface="Times New Roman" panose="02020603050405020304" pitchFamily="18" charset="0"/>
              </a:rPr>
              <a:t>cycle stealing</a:t>
            </a:r>
            <a:r>
              <a:rPr lang="en-IN" i="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because the DMA module in effect steals a bus cycle.</a:t>
            </a:r>
          </a:p>
          <a:p>
            <a:pPr algn="just"/>
            <a:r>
              <a:rPr lang="en-IN" dirty="0">
                <a:latin typeface="Times New Roman" panose="02020603050405020304" pitchFamily="18" charset="0"/>
                <a:cs typeface="Times New Roman" panose="02020603050405020304" pitchFamily="18" charset="0"/>
              </a:rPr>
              <a:t>When the processor wishes to read or write a block of data, it issues a command to the DMA module, by sending to the DMA module the following information:</a:t>
            </a:r>
          </a:p>
        </p:txBody>
      </p:sp>
    </p:spTree>
    <p:extLst>
      <p:ext uri="{BB962C8B-B14F-4D97-AF65-F5344CB8AC3E}">
        <p14:creationId xmlns:p14="http://schemas.microsoft.com/office/powerpoint/2010/main" val="3969347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344" y="-211705"/>
            <a:ext cx="9145016" cy="72411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88626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549" y="144091"/>
            <a:ext cx="8229600" cy="665162"/>
          </a:xfrm>
        </p:spPr>
        <p:txBody>
          <a:bodyPr>
            <a:normAutofit/>
          </a:bodyPr>
          <a:lstStyle/>
          <a:p>
            <a:pPr algn="ctr"/>
            <a:r>
              <a:rPr lang="en-IN" sz="2800" b="1" dirty="0">
                <a:solidFill>
                  <a:schemeClr val="tx1"/>
                </a:solidFill>
                <a:latin typeface="Times New Roman" panose="02020603050405020304" pitchFamily="18" charset="0"/>
                <a:cs typeface="Times New Roman" panose="02020603050405020304" pitchFamily="18" charset="0"/>
              </a:rPr>
              <a:t>DIRECT MEMORY ACCESS FUNCTION</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3205" y="980728"/>
            <a:ext cx="10208525" cy="5400600"/>
          </a:xfrm>
        </p:spPr>
        <p:txBody>
          <a:bodyPr>
            <a:noAutofit/>
          </a:bodyPr>
          <a:lstStyle/>
          <a:p>
            <a:pPr marL="0" indent="0" algn="just">
              <a:buNone/>
            </a:pPr>
            <a:r>
              <a:rPr lang="en-IN" sz="2000" dirty="0">
                <a:latin typeface="Times New Roman" panose="02020603050405020304" pitchFamily="18" charset="0"/>
                <a:cs typeface="Times New Roman" panose="02020603050405020304" pitchFamily="18" charset="0"/>
              </a:rPr>
              <a:t>1. Whether a read or write is requested, using the read or write control line between the processor and the DMA module</a:t>
            </a:r>
          </a:p>
          <a:p>
            <a:pPr marL="0" indent="0" algn="just">
              <a:buNone/>
            </a:pPr>
            <a:r>
              <a:rPr lang="en-IN" sz="2000" dirty="0">
                <a:latin typeface="Times New Roman" panose="02020603050405020304" pitchFamily="18" charset="0"/>
                <a:cs typeface="Times New Roman" panose="02020603050405020304" pitchFamily="18" charset="0"/>
              </a:rPr>
              <a:t>2.The address of the I/O device involved, communicated on the data lines</a:t>
            </a:r>
          </a:p>
          <a:p>
            <a:pPr marL="0" indent="0" algn="just">
              <a:buNone/>
            </a:pPr>
            <a:r>
              <a:rPr lang="en-IN" sz="2000" dirty="0">
                <a:latin typeface="Times New Roman" panose="02020603050405020304" pitchFamily="18" charset="0"/>
                <a:cs typeface="Times New Roman" panose="02020603050405020304" pitchFamily="18" charset="0"/>
              </a:rPr>
              <a:t>3. The starting location in memory to read from or write to, communicated on the data lines and stored by the DMA module in its address register</a:t>
            </a:r>
          </a:p>
          <a:p>
            <a:pPr marL="0" indent="0" algn="just">
              <a:buNone/>
            </a:pPr>
            <a:r>
              <a:rPr lang="en-IN" sz="2000" dirty="0">
                <a:latin typeface="Times New Roman" panose="02020603050405020304" pitchFamily="18" charset="0"/>
                <a:cs typeface="Times New Roman" panose="02020603050405020304" pitchFamily="18" charset="0"/>
              </a:rPr>
              <a:t>4. The number of words to be read or written, again communicated via the data  lines and stored in the data count register</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processor then continues with other work. It has delegated this I/O operation to the DMA module.</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DMA module transfers the entire block of data, one word at a time, directly to or from memory, without going through the processor.</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When the transfer is complete, the DMA module sends an interrupt signal to the processor.</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Thus, the processor is involved only at the beginning and end of the transfer</a:t>
            </a:r>
          </a:p>
        </p:txBody>
      </p:sp>
    </p:spTree>
    <p:extLst>
      <p:ext uri="{BB962C8B-B14F-4D97-AF65-F5344CB8AC3E}">
        <p14:creationId xmlns:p14="http://schemas.microsoft.com/office/powerpoint/2010/main" val="24566260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FB0A6-4F3B-B7E0-82D6-8A86DA504F36}"/>
              </a:ext>
            </a:extLst>
          </p:cNvPr>
          <p:cNvSpPr>
            <a:spLocks noGrp="1"/>
          </p:cNvSpPr>
          <p:nvPr>
            <p:ph type="title"/>
          </p:nvPr>
        </p:nvSpPr>
        <p:spPr/>
        <p:txBody>
          <a:bodyPr/>
          <a:lstStyle/>
          <a:p>
            <a:r>
              <a:rPr lang="en-US" dirty="0"/>
              <a:t>Supplementary links: </a:t>
            </a:r>
            <a:endParaRPr lang="en-IN" dirty="0"/>
          </a:p>
        </p:txBody>
      </p:sp>
      <p:sp>
        <p:nvSpPr>
          <p:cNvPr id="3" name="Content Placeholder 2">
            <a:extLst>
              <a:ext uri="{FF2B5EF4-FFF2-40B4-BE49-F238E27FC236}">
                <a16:creationId xmlns:a16="http://schemas.microsoft.com/office/drawing/2014/main" id="{9556921E-643A-EA2E-4D7B-BC113DC62D99}"/>
              </a:ext>
            </a:extLst>
          </p:cNvPr>
          <p:cNvSpPr>
            <a:spLocks noGrp="1"/>
          </p:cNvSpPr>
          <p:nvPr>
            <p:ph idx="1"/>
          </p:nvPr>
        </p:nvSpPr>
        <p:spPr/>
        <p:txBody>
          <a:bodyPr/>
          <a:lstStyle/>
          <a:p>
            <a:pPr marL="457200" indent="-457200">
              <a:buFont typeface="+mj-lt"/>
              <a:buAutoNum type="arabicPeriod"/>
            </a:pPr>
            <a:r>
              <a:rPr lang="en-IN" dirty="0">
                <a:hlinkClick r:id="rId2"/>
              </a:rPr>
              <a:t>https://archive.nptel.ac.in/courses/106/105/106105163/</a:t>
            </a:r>
          </a:p>
          <a:p>
            <a:pPr marL="457200" indent="-457200">
              <a:buFont typeface="+mj-lt"/>
              <a:buAutoNum type="arabicPeriod"/>
            </a:pPr>
            <a:r>
              <a:rPr lang="en-IN" dirty="0">
                <a:hlinkClick r:id="rId2"/>
              </a:rPr>
              <a:t>https://www.youtube.com/watch?v=_eAL-v5oNOw</a:t>
            </a:r>
          </a:p>
          <a:p>
            <a:pPr marL="457200" indent="-457200">
              <a:buFont typeface="+mj-lt"/>
              <a:buAutoNum type="arabicPeriod"/>
            </a:pPr>
            <a:r>
              <a:rPr lang="en-IN" dirty="0">
                <a:hlinkClick r:id="rId2"/>
              </a:rPr>
              <a:t>https://www.geeksforgeeks.org/memory-hierarchy-design-and-its-characteristics</a:t>
            </a:r>
            <a:endParaRPr lang="en-IN" dirty="0"/>
          </a:p>
          <a:p>
            <a:pPr marL="457200" indent="-457200">
              <a:buFont typeface="+mj-lt"/>
              <a:buAutoNum type="arabicPeriod"/>
            </a:pPr>
            <a:r>
              <a:rPr lang="en-IN" dirty="0">
                <a:hlinkClick r:id="rId3"/>
              </a:rPr>
              <a:t>https://www.geeksforgeeks.org/</a:t>
            </a:r>
            <a:r>
              <a:rPr lang="en-IN">
                <a:hlinkClick r:id="rId3"/>
              </a:rPr>
              <a:t>random-access-memory-ram-and-read-only-memory-rom/</a:t>
            </a:r>
            <a:r>
              <a:rPr lang="en-IN"/>
              <a:t> </a:t>
            </a:r>
            <a:endParaRPr lang="en-IN" dirty="0"/>
          </a:p>
          <a:p>
            <a:pPr marL="457200" indent="-457200">
              <a:buFont typeface="+mj-lt"/>
              <a:buAutoNum type="arabicPeriod"/>
            </a:pPr>
            <a:r>
              <a:rPr lang="en-IN" dirty="0">
                <a:hlinkClick r:id="rId4"/>
              </a:rPr>
              <a:t>https://www.geeksforgeeks.org/direct-memory-access-dma-controller-in-computer-architecture</a:t>
            </a:r>
            <a:endParaRPr lang="en-IN" dirty="0"/>
          </a:p>
        </p:txBody>
      </p:sp>
    </p:spTree>
    <p:extLst>
      <p:ext uri="{BB962C8B-B14F-4D97-AF65-F5344CB8AC3E}">
        <p14:creationId xmlns:p14="http://schemas.microsoft.com/office/powerpoint/2010/main" val="19870110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6023C7-FFFA-5855-E2CA-E2DC78B493D8}"/>
              </a:ext>
            </a:extLst>
          </p:cNvPr>
          <p:cNvSpPr/>
          <p:nvPr/>
        </p:nvSpPr>
        <p:spPr>
          <a:xfrm>
            <a:off x="4561190" y="2967335"/>
            <a:ext cx="3069623"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spTree>
    <p:extLst>
      <p:ext uri="{BB962C8B-B14F-4D97-AF65-F5344CB8AC3E}">
        <p14:creationId xmlns:p14="http://schemas.microsoft.com/office/powerpoint/2010/main" val="1776539413"/>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TM03457491[[fn=Metropolitan]]</Template>
  <TotalTime>8994</TotalTime>
  <Words>3500</Words>
  <Application>Microsoft Office PowerPoint</Application>
  <PresentationFormat>Widescreen</PresentationFormat>
  <Paragraphs>192</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 Light</vt:lpstr>
      <vt:lpstr>Times New Roman</vt:lpstr>
      <vt:lpstr>TimesTen-Roman</vt:lpstr>
      <vt:lpstr>Wingdings</vt:lpstr>
      <vt:lpstr>Metropolitan</vt:lpstr>
      <vt:lpstr>Unit 2 : Memory Organization</vt:lpstr>
      <vt:lpstr>COMPUTER MEMORY SYSTEM OVERVIEW  Characteristics of Memory Systems</vt:lpstr>
      <vt:lpstr>PowerPoint Presentation</vt:lpstr>
      <vt:lpstr>PowerPoint Presentation</vt:lpstr>
      <vt:lpstr>Memory characteristics </vt:lpstr>
      <vt:lpstr>PowerPoint Presentation</vt:lpstr>
      <vt:lpstr>The Memory Hierarchy</vt:lpstr>
      <vt:lpstr>PowerPoint Presentation</vt:lpstr>
      <vt:lpstr>The Memory Hierarchy</vt:lpstr>
      <vt:lpstr>A typical memory hierarchy is shown in fig. </vt:lpstr>
      <vt:lpstr>PowerPoint Presentation</vt:lpstr>
      <vt:lpstr>PowerPoint Presentation</vt:lpstr>
      <vt:lpstr>PowerPoint Presentation</vt:lpstr>
      <vt:lpstr>PowerPoint Presentation</vt:lpstr>
      <vt:lpstr>Semiconductor main memory</vt:lpstr>
      <vt:lpstr>DYNAMIC RAM </vt:lpstr>
      <vt:lpstr>Dynamic RAM CELL</vt:lpstr>
      <vt:lpstr>PowerPoint Presentation</vt:lpstr>
      <vt:lpstr>SRAM Design</vt:lpstr>
      <vt:lpstr>Types of ROM</vt:lpstr>
      <vt:lpstr>Erasable programmable read-only memory (EPROM)</vt:lpstr>
      <vt:lpstr>Electrically Erasable Programmable read-only memory (EEPROM). </vt:lpstr>
      <vt:lpstr>Flash memory</vt:lpstr>
      <vt:lpstr>CACHE MEMORY : CACHE MEMORY PRINCIPLES</vt:lpstr>
      <vt:lpstr>PowerPoint Presentation</vt:lpstr>
      <vt:lpstr>PowerPoint Presentation</vt:lpstr>
      <vt:lpstr>Cache Performance</vt:lpstr>
      <vt:lpstr>PowerPoint Presentation</vt:lpstr>
      <vt:lpstr>PowerPoint Presentation</vt:lpstr>
      <vt:lpstr>PowerPoint Presentation</vt:lpstr>
      <vt:lpstr>Virtual memory</vt:lpstr>
      <vt:lpstr>PowerPoint Presentation</vt:lpstr>
      <vt:lpstr>How Virtual Memory Works? </vt:lpstr>
      <vt:lpstr>PowerPoint Presentation</vt:lpstr>
      <vt:lpstr>PowerPoint Presentation</vt:lpstr>
      <vt:lpstr>Advantages of Virtual Memory</vt:lpstr>
      <vt:lpstr>DIRECT MEMORY ACCESS</vt:lpstr>
      <vt:lpstr>PowerPoint Presentation</vt:lpstr>
      <vt:lpstr>DIRECT MEMORY ACCESS FUNCTION</vt:lpstr>
      <vt:lpstr>Supplementary links: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Memory</dc:title>
  <dc:creator>Sontakke, Varsha</dc:creator>
  <cp:lastModifiedBy>Shrihari Chate</cp:lastModifiedBy>
  <cp:revision>99</cp:revision>
  <dcterms:created xsi:type="dcterms:W3CDTF">2020-02-20T04:20:44Z</dcterms:created>
  <dcterms:modified xsi:type="dcterms:W3CDTF">2025-01-25T11:29:48Z</dcterms:modified>
</cp:coreProperties>
</file>