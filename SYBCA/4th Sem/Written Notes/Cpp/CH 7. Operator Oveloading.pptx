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0" r:id="rId7"/>
    <p:sldId id="300" r:id="rId8"/>
    <p:sldId id="299" r:id="rId9"/>
    <p:sldId id="263" r:id="rId10"/>
    <p:sldId id="266" r:id="rId11"/>
    <p:sldId id="262" r:id="rId12"/>
    <p:sldId id="298" r:id="rId13"/>
    <p:sldId id="29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BB345-0B95-4741-8079-F293F5AA5CC1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F32CE-37EF-4A88-A078-85B51A512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408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B5E2-33C3-4878-A748-25B55F46795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780B840B-8440-491F-9B6D-9775EAACA5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3CDCC-43B1-4143-85DB-A992BDEC46ED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840B-8440-491F-9B6D-9775EAACA5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879D-9BF1-4E30-B1A7-E8C228F3AF27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780B840B-8440-491F-9B6D-9775EAACA5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5BF37-812E-4847-B4C1-E776FAA6C1F4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840B-8440-491F-9B6D-9775EAACA5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2D007-EE67-4EA9-AC92-F1F9CE9EB625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840B-8440-491F-9B6D-9775EAACA5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25788-5012-40D8-B685-B00808F079C9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840B-8440-491F-9B6D-9775EAACA5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0A453-0AF5-457D-ADEC-01824603C56F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840B-8440-491F-9B6D-9775EAACA5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4DC7-192A-4F55-BC81-EF2CA8D68F9D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840B-8440-491F-9B6D-9775EAACA5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6DFD-7E5B-4B6C-BEBC-D2BBF7D13968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780B840B-8440-491F-9B6D-9775EAACA5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96D4-D5EE-4D67-B813-D6A0B5ECF15F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840B-8440-491F-9B6D-9775EAACA5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B3E72-CA17-491C-88A7-263FBF6EEEA9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840B-8440-491F-9B6D-9775EAACA5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E376B93-B890-4B5C-B4F2-F9CA86FE4989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Prepared by Deepali Sonawane, DoCSA, MIT-WPU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780B840B-8440-491F-9B6D-9775EAACA5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6573" y="1493778"/>
            <a:ext cx="10158806" cy="1497617"/>
          </a:xfrm>
        </p:spPr>
        <p:txBody>
          <a:bodyPr>
            <a:noAutofit/>
          </a:bodyPr>
          <a:lstStyle/>
          <a:p>
            <a:r>
              <a:rPr lang="en-US" sz="7200" dirty="0">
                <a:latin typeface="+mn-lt"/>
              </a:rPr>
              <a:t>Operator Overloading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7EA701-8823-04E6-DC45-1252925B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869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897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366223"/>
            <a:ext cx="10515600" cy="511295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overloading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 to assign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meaning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most of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CPP operators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overloading operators, it is good practice to ensure that the overloaded operator has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behavior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original operator.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Overloading operator does not change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precedence and associatively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operator.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overload operator by creating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functions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operator function is created using the keyword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return_type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operator_to_be_overloaded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([parameters]);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FAA4DD-BDE0-A9EE-A103-F06300694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23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897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operators that can not be overloaded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366223"/>
            <a:ext cx="10515600" cy="5112954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26160" y="1411993"/>
          <a:ext cx="9280434" cy="4283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9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1916">
                <a:tc>
                  <a:txBody>
                    <a:bodyPr/>
                    <a:lstStyle/>
                    <a:p>
                      <a:r>
                        <a:rPr lang="en-US" sz="2800" b="0" dirty="0"/>
                        <a:t>Operator</a:t>
                      </a:r>
                      <a:endParaRPr lang="en-IN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Name</a:t>
                      </a:r>
                      <a:endParaRPr lang="en-IN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916">
                <a:tc>
                  <a:txBody>
                    <a:bodyPr/>
                    <a:lstStyle/>
                    <a:p>
                      <a:r>
                        <a:rPr lang="en-US" sz="2800" b="0" dirty="0"/>
                        <a:t>.</a:t>
                      </a:r>
                      <a:endParaRPr lang="en-IN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Member selection</a:t>
                      </a:r>
                      <a:endParaRPr lang="en-IN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916">
                <a:tc>
                  <a:txBody>
                    <a:bodyPr/>
                    <a:lstStyle/>
                    <a:p>
                      <a:r>
                        <a:rPr lang="en-US" sz="2800" b="0" dirty="0"/>
                        <a:t>.*</a:t>
                      </a:r>
                      <a:endParaRPr lang="en-IN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Pointer to member</a:t>
                      </a:r>
                      <a:r>
                        <a:rPr lang="en-US" sz="2800" b="0" baseline="0" dirty="0"/>
                        <a:t> selection</a:t>
                      </a:r>
                      <a:endParaRPr lang="en-IN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916">
                <a:tc>
                  <a:txBody>
                    <a:bodyPr/>
                    <a:lstStyle/>
                    <a:p>
                      <a:r>
                        <a:rPr lang="en-US" sz="2800" b="0" dirty="0"/>
                        <a:t>:: </a:t>
                      </a:r>
                      <a:endParaRPr lang="en-IN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Scope resolution</a:t>
                      </a:r>
                      <a:r>
                        <a:rPr lang="en-US" sz="2800" b="0" baseline="0" dirty="0"/>
                        <a:t> Operator</a:t>
                      </a:r>
                      <a:endParaRPr lang="en-IN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916">
                <a:tc>
                  <a:txBody>
                    <a:bodyPr/>
                    <a:lstStyle/>
                    <a:p>
                      <a:r>
                        <a:rPr lang="en-US" sz="2800" b="0" dirty="0"/>
                        <a:t>?:</a:t>
                      </a:r>
                      <a:endParaRPr lang="en-IN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Conditional Operator</a:t>
                      </a:r>
                      <a:endParaRPr lang="en-IN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916">
                <a:tc>
                  <a:txBody>
                    <a:bodyPr/>
                    <a:lstStyle/>
                    <a:p>
                      <a:r>
                        <a:rPr lang="en-US" sz="2800" b="0" dirty="0"/>
                        <a:t>#</a:t>
                      </a:r>
                      <a:endParaRPr lang="en-IN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Preprocessor convert to string</a:t>
                      </a:r>
                      <a:endParaRPr lang="en-IN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916">
                <a:tc>
                  <a:txBody>
                    <a:bodyPr/>
                    <a:lstStyle/>
                    <a:p>
                      <a:r>
                        <a:rPr lang="en-US" sz="2800" b="0" dirty="0"/>
                        <a:t>##</a:t>
                      </a:r>
                      <a:endParaRPr lang="en-IN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Preprocessor</a:t>
                      </a:r>
                      <a:r>
                        <a:rPr lang="en-US" sz="2800" b="0" baseline="0" dirty="0"/>
                        <a:t> concatenate</a:t>
                      </a:r>
                      <a:endParaRPr lang="en-IN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CD70-AD1D-B3DE-B0FB-E99321E0B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23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897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Overloading of Unary Minus(-)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1" y="1366223"/>
            <a:ext cx="10787742" cy="511295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Unary operator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overloaded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functions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no formal arguments, whereas when they are overloaded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friend functions they take a single argument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Overloading of unary minus operator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unary minus or negation operator changes the sign of an operand when applied to a basic data item.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 unary operator-() is</a:t>
            </a:r>
          </a:p>
          <a:p>
            <a:pPr>
              <a:lnSpc>
                <a:spcPct val="150000"/>
              </a:lnSpc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void operator-()// Unary Minus</a:t>
            </a:r>
          </a:p>
          <a:p>
            <a:pPr>
              <a:lnSpc>
                <a:spcPct val="150000"/>
              </a:lnSpc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>
              <a:lnSpc>
                <a:spcPct val="150000"/>
              </a:lnSpc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n=-n;</a:t>
            </a:r>
          </a:p>
          <a:p>
            <a:pPr>
              <a:lnSpc>
                <a:spcPct val="150000"/>
              </a:lnSpc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object while calling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unary minus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–num, num is object)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EE006A-C164-D611-B674-C4071AD8E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23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897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Overloading of Unary Minus(-)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1" y="1366223"/>
            <a:ext cx="10787742" cy="511295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Overloading of unary minus operator using friend function: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to overload a unary minus operator using friend function as follows:</a:t>
            </a:r>
          </a:p>
          <a:p>
            <a:pPr>
              <a:lnSpc>
                <a:spcPct val="150000"/>
              </a:lnSpc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 unary operator-() using friend function is</a:t>
            </a:r>
          </a:p>
          <a:p>
            <a:pPr>
              <a:lnSpc>
                <a:spcPct val="150000"/>
              </a:lnSpc>
              <a:buNone/>
            </a:pPr>
            <a:r>
              <a:rPr lang="pt-BR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friend void operator-(Number &amp;num)// Unary Minus</a:t>
            </a:r>
          </a:p>
          <a:p>
            <a:pPr>
              <a:lnSpc>
                <a:spcPct val="150000"/>
              </a:lnSpc>
              <a:buNone/>
            </a:pPr>
            <a:r>
              <a:rPr lang="pt-BR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>
              <a:lnSpc>
                <a:spcPct val="150000"/>
              </a:lnSpc>
              <a:buNone/>
            </a:pPr>
            <a:r>
              <a:rPr lang="pt-BR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num.n=-num.n;</a:t>
            </a:r>
          </a:p>
          <a:p>
            <a:pPr>
              <a:lnSpc>
                <a:spcPct val="150000"/>
              </a:lnSpc>
              <a:buNone/>
            </a:pPr>
            <a:r>
              <a:rPr lang="pt-BR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the argument is 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passed by reference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will not work if we pass argument by value because only a copy of the object that activated the call is passed to operator-(). Therefore, the changes made inside the operator function will not reflect in the called object.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F35ED-3FBD-4F8C-29EE-E20CE357F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23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897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Overloading of Binary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366223"/>
            <a:ext cx="10515600" cy="4969263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6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operator overloaded by member functions take a single argument, whereas when they are overloaded by friend functions they take two arguments.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Overloading of binary minus operator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binary minus operator performs subtraction operation. </a:t>
            </a:r>
          </a:p>
          <a:p>
            <a:pPr>
              <a:lnSpc>
                <a:spcPct val="16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Overloading of binary plus operator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binary plus operator performs addition operation. </a:t>
            </a:r>
          </a:p>
          <a:p>
            <a:pPr>
              <a:lnSpc>
                <a:spcPct val="16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declare a binary operator function as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function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 following form:</a:t>
            </a:r>
          </a:p>
          <a:p>
            <a:pPr>
              <a:lnSpc>
                <a:spcPct val="160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return_type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operator_to_be_ovelaoded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(arg1);</a:t>
            </a:r>
          </a:p>
          <a:p>
            <a:pPr>
              <a:lnSpc>
                <a:spcPct val="16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declare a binary operator function as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friend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 following form:</a:t>
            </a:r>
          </a:p>
          <a:p>
            <a:pPr>
              <a:lnSpc>
                <a:spcPct val="160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friend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return_type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operator_to_be_ovelaoded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(arg1,arg2);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8BA81-14DC-9874-FE92-0954890D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Deepali Sonawane, </a:t>
            </a:r>
            <a:r>
              <a:rPr lang="en-US" dirty="0" err="1"/>
              <a:t>DoCSA</a:t>
            </a:r>
            <a:r>
              <a:rPr lang="en-US" dirty="0"/>
              <a:t>, MIT-WPU</a:t>
            </a:r>
          </a:p>
        </p:txBody>
      </p:sp>
    </p:spTree>
    <p:extLst>
      <p:ext uri="{BB962C8B-B14F-4D97-AF65-F5344CB8AC3E}">
        <p14:creationId xmlns:p14="http://schemas.microsoft.com/office/powerpoint/2010/main" val="144423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03EB1-0C1D-DABF-047E-F66D061F5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27A11-BFEE-A953-5B64-6E64EF3B6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897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Overloading of Binary + Operator on Integer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558C2-66D6-6776-FBFC-821B20A146D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366223"/>
            <a:ext cx="4592216" cy="4969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class Addition</a:t>
            </a:r>
          </a:p>
          <a:p>
            <a:pPr marL="0" indent="0">
              <a:buNone/>
            </a:pPr>
            <a:r>
              <a:rPr lang="en-IN" sz="1400" dirty="0"/>
              <a:t>{</a:t>
            </a:r>
          </a:p>
          <a:p>
            <a:pPr marL="0" indent="0">
              <a:buNone/>
            </a:pPr>
            <a:r>
              <a:rPr lang="en-IN" sz="1400" dirty="0"/>
              <a:t>        int </a:t>
            </a:r>
            <a:r>
              <a:rPr lang="en-IN" sz="1400" dirty="0" err="1"/>
              <a:t>num</a:t>
            </a:r>
            <a:r>
              <a:rPr lang="en-IN" sz="1400" dirty="0"/>
              <a:t>;</a:t>
            </a:r>
          </a:p>
          <a:p>
            <a:pPr marL="0" indent="0">
              <a:buNone/>
            </a:pPr>
            <a:r>
              <a:rPr lang="en-IN" sz="1400" dirty="0"/>
              <a:t>        public:</a:t>
            </a:r>
          </a:p>
          <a:p>
            <a:pPr marL="0" indent="0">
              <a:buNone/>
            </a:pPr>
            <a:r>
              <a:rPr lang="en-IN" sz="1400" dirty="0"/>
              <a:t>        Addition() {}</a:t>
            </a:r>
          </a:p>
          <a:p>
            <a:pPr marL="0" indent="0">
              <a:buNone/>
            </a:pPr>
            <a:r>
              <a:rPr lang="en-IN" sz="1400" dirty="0"/>
              <a:t>        Addition(int </a:t>
            </a:r>
            <a:r>
              <a:rPr lang="en-IN" sz="1400" dirty="0" err="1"/>
              <a:t>num</a:t>
            </a:r>
            <a:r>
              <a:rPr lang="en-IN" sz="1400" dirty="0"/>
              <a:t>)</a:t>
            </a:r>
          </a:p>
          <a:p>
            <a:pPr marL="0" indent="0">
              <a:buNone/>
            </a:pPr>
            <a:r>
              <a:rPr lang="en-IN" sz="1400" dirty="0"/>
              <a:t>        {     this-&gt;</a:t>
            </a:r>
            <a:r>
              <a:rPr lang="en-IN" sz="1400" dirty="0" err="1"/>
              <a:t>num</a:t>
            </a:r>
            <a:r>
              <a:rPr lang="en-IN" sz="1400" dirty="0"/>
              <a:t>= </a:t>
            </a:r>
            <a:r>
              <a:rPr lang="en-IN" sz="1400" dirty="0" err="1"/>
              <a:t>num</a:t>
            </a:r>
            <a:r>
              <a:rPr lang="en-IN" sz="1400" dirty="0"/>
              <a:t>; }</a:t>
            </a:r>
          </a:p>
          <a:p>
            <a:pPr marL="0" indent="0">
              <a:buNone/>
            </a:pPr>
            <a:r>
              <a:rPr lang="en-IN" sz="1400" dirty="0"/>
              <a:t>        void display()</a:t>
            </a:r>
          </a:p>
          <a:p>
            <a:pPr marL="0" indent="0">
              <a:buNone/>
            </a:pPr>
            <a:r>
              <a:rPr lang="en-IN" sz="1400" dirty="0"/>
              <a:t>        {  </a:t>
            </a:r>
            <a:r>
              <a:rPr lang="en-IN" sz="1400" dirty="0" err="1"/>
              <a:t>cout</a:t>
            </a:r>
            <a:r>
              <a:rPr lang="en-IN" sz="1400" dirty="0"/>
              <a:t>&lt;&lt;</a:t>
            </a:r>
            <a:r>
              <a:rPr lang="en-IN" sz="1400" dirty="0" err="1"/>
              <a:t>num</a:t>
            </a:r>
            <a:r>
              <a:rPr lang="en-IN" sz="1400" dirty="0"/>
              <a:t>; }</a:t>
            </a:r>
          </a:p>
          <a:p>
            <a:pPr marL="0" indent="0">
              <a:buNone/>
            </a:pPr>
            <a:r>
              <a:rPr lang="en-IN" sz="1400" dirty="0"/>
              <a:t>        Addition operator+(Addition a2)</a:t>
            </a:r>
          </a:p>
          <a:p>
            <a:pPr marL="0" indent="0">
              <a:buNone/>
            </a:pPr>
            <a:r>
              <a:rPr lang="en-IN" sz="1400" dirty="0"/>
              <a:t>        {</a:t>
            </a:r>
          </a:p>
          <a:p>
            <a:pPr marL="0" indent="0">
              <a:buNone/>
            </a:pPr>
            <a:r>
              <a:rPr lang="en-IN" sz="1400" dirty="0"/>
              <a:t>                Addition a3;</a:t>
            </a:r>
          </a:p>
          <a:p>
            <a:pPr marL="0" indent="0">
              <a:buNone/>
            </a:pPr>
            <a:r>
              <a:rPr lang="en-IN" sz="1400" dirty="0"/>
              <a:t>                a3.num = </a:t>
            </a:r>
            <a:r>
              <a:rPr lang="en-IN" sz="1400" dirty="0" err="1"/>
              <a:t>num</a:t>
            </a:r>
            <a:r>
              <a:rPr lang="en-IN" sz="1400" dirty="0"/>
              <a:t> + a2.num;</a:t>
            </a:r>
          </a:p>
          <a:p>
            <a:pPr marL="0" indent="0">
              <a:buNone/>
            </a:pPr>
            <a:r>
              <a:rPr lang="en-IN" sz="1400" dirty="0"/>
              <a:t>                return a3;</a:t>
            </a:r>
          </a:p>
          <a:p>
            <a:pPr marL="0" indent="0">
              <a:buNone/>
            </a:pPr>
            <a:r>
              <a:rPr lang="en-IN" sz="1400" dirty="0"/>
              <a:t>        }</a:t>
            </a:r>
          </a:p>
          <a:p>
            <a:pPr marL="0" indent="0">
              <a:buNone/>
            </a:pPr>
            <a:r>
              <a:rPr lang="en-IN" sz="1400" dirty="0"/>
              <a:t>};</a:t>
            </a:r>
            <a:br>
              <a:rPr lang="en-IN" sz="1400" dirty="0"/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DCD125-42DF-1D35-2B1B-20C1CB47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Deepali Sonawane, </a:t>
            </a:r>
            <a:r>
              <a:rPr lang="en-US" dirty="0" err="1"/>
              <a:t>DoCSA</a:t>
            </a:r>
            <a:r>
              <a:rPr lang="en-US" dirty="0"/>
              <a:t>, MIT-WPU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4D471D8-B088-DD8C-2D50-BC98AE042316}"/>
              </a:ext>
            </a:extLst>
          </p:cNvPr>
          <p:cNvSpPr txBox="1">
            <a:spLocks/>
          </p:cNvSpPr>
          <p:nvPr/>
        </p:nvSpPr>
        <p:spPr>
          <a:xfrm>
            <a:off x="6290388" y="1366222"/>
            <a:ext cx="4592216" cy="4969263"/>
          </a:xfrm>
          <a:prstGeom prst="rect">
            <a:avLst/>
          </a:prstGeom>
        </p:spPr>
        <p:txBody>
          <a:bodyPr vert="horz">
            <a:normAutofit fontScale="70000" lnSpcReduction="20000"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int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        Addition a1(10),a2(20),a3;</a:t>
            </a:r>
          </a:p>
          <a:p>
            <a:pPr marL="0" indent="0">
              <a:buNone/>
            </a:pPr>
            <a:r>
              <a:rPr lang="en-US" dirty="0"/>
              <a:t>        </a:t>
            </a:r>
            <a:r>
              <a:rPr lang="en-US" dirty="0" err="1"/>
              <a:t>cout</a:t>
            </a:r>
            <a:r>
              <a:rPr lang="en-US" dirty="0"/>
              <a:t>&lt;&lt;"\</a:t>
            </a:r>
            <a:r>
              <a:rPr lang="en-US" dirty="0" err="1"/>
              <a:t>nNumber</a:t>
            </a:r>
            <a:r>
              <a:rPr lang="en-US" dirty="0"/>
              <a:t> 1 : ";</a:t>
            </a:r>
          </a:p>
          <a:p>
            <a:pPr marL="0" indent="0">
              <a:buNone/>
            </a:pPr>
            <a:r>
              <a:rPr lang="en-US" dirty="0"/>
              <a:t>        a1.display();</a:t>
            </a:r>
          </a:p>
          <a:p>
            <a:pPr marL="0" indent="0">
              <a:buNone/>
            </a:pPr>
            <a:r>
              <a:rPr lang="en-US" dirty="0"/>
              <a:t>        </a:t>
            </a:r>
            <a:r>
              <a:rPr lang="en-US" dirty="0" err="1"/>
              <a:t>cout</a:t>
            </a:r>
            <a:r>
              <a:rPr lang="en-US" dirty="0"/>
              <a:t>&lt;&lt;"\</a:t>
            </a:r>
            <a:r>
              <a:rPr lang="en-US" dirty="0" err="1"/>
              <a:t>nNumber</a:t>
            </a:r>
            <a:r>
              <a:rPr lang="en-US" dirty="0"/>
              <a:t> 2 : ";</a:t>
            </a:r>
          </a:p>
          <a:p>
            <a:pPr marL="0" indent="0">
              <a:buNone/>
            </a:pPr>
            <a:r>
              <a:rPr lang="en-US" dirty="0"/>
              <a:t>        a2.display();   </a:t>
            </a:r>
          </a:p>
          <a:p>
            <a:pPr marL="0" indent="0">
              <a:buNone/>
            </a:pPr>
            <a:r>
              <a:rPr lang="en-US" dirty="0"/>
              <a:t>        a3=a1+a2;//a1.operator+(a2);</a:t>
            </a:r>
          </a:p>
          <a:p>
            <a:pPr marL="0" indent="0">
              <a:buNone/>
            </a:pPr>
            <a:r>
              <a:rPr lang="en-US" dirty="0"/>
              <a:t>        </a:t>
            </a:r>
            <a:r>
              <a:rPr lang="en-US" dirty="0" err="1"/>
              <a:t>cout</a:t>
            </a:r>
            <a:r>
              <a:rPr lang="en-US" dirty="0"/>
              <a:t>&lt;&lt;"\</a:t>
            </a:r>
            <a:r>
              <a:rPr lang="en-US" dirty="0" err="1"/>
              <a:t>nAnswer</a:t>
            </a:r>
            <a:r>
              <a:rPr lang="en-US" dirty="0"/>
              <a:t> : ";</a:t>
            </a:r>
          </a:p>
          <a:p>
            <a:pPr marL="0" indent="0">
              <a:buNone/>
            </a:pPr>
            <a:r>
              <a:rPr lang="en-US" dirty="0"/>
              <a:t>        a3.display();    </a:t>
            </a:r>
          </a:p>
          <a:p>
            <a:pPr marL="0" indent="0">
              <a:buNone/>
            </a:pPr>
            <a:r>
              <a:rPr lang="en-US" dirty="0"/>
              <a:t>       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br>
              <a:rPr lang="en-IN" dirty="0"/>
            </a:br>
            <a:br>
              <a:rPr lang="en-IN" dirty="0"/>
            </a:br>
            <a:endParaRPr lang="en-IN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66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605EE-BCD2-6489-2708-7BB0C27C7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BFCFE-32CA-F02A-DB08-9F49C288C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897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Overloading of Binary + Operator on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AC7-FA85-A874-9658-07E5C9A70A9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366223"/>
            <a:ext cx="4592216" cy="49692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/>
              <a:t>class </a:t>
            </a:r>
            <a:r>
              <a:rPr lang="en-IN" sz="1200" dirty="0" err="1"/>
              <a:t>Concat</a:t>
            </a:r>
            <a:endParaRPr lang="en-IN" sz="1200" dirty="0"/>
          </a:p>
          <a:p>
            <a:pPr marL="0" indent="0">
              <a:buNone/>
            </a:pPr>
            <a:r>
              <a:rPr lang="en-IN" sz="1200" dirty="0"/>
              <a:t>{</a:t>
            </a:r>
          </a:p>
          <a:p>
            <a:pPr marL="0" indent="0">
              <a:buNone/>
            </a:pPr>
            <a:r>
              <a:rPr lang="en-IN" sz="1200" dirty="0"/>
              <a:t>        char str[20];</a:t>
            </a:r>
          </a:p>
          <a:p>
            <a:pPr marL="0" indent="0">
              <a:buNone/>
            </a:pPr>
            <a:r>
              <a:rPr lang="en-IN" sz="1200" dirty="0"/>
              <a:t>        public:</a:t>
            </a:r>
          </a:p>
          <a:p>
            <a:pPr marL="0" indent="0">
              <a:buNone/>
            </a:pPr>
            <a:r>
              <a:rPr lang="en-IN" sz="1200" dirty="0"/>
              <a:t>        </a:t>
            </a:r>
            <a:r>
              <a:rPr lang="en-IN" sz="1200" dirty="0" err="1"/>
              <a:t>Concat</a:t>
            </a:r>
            <a:r>
              <a:rPr lang="en-IN" sz="1200" dirty="0"/>
              <a:t>()</a:t>
            </a:r>
          </a:p>
          <a:p>
            <a:pPr marL="0" indent="0">
              <a:buNone/>
            </a:pPr>
            <a:r>
              <a:rPr lang="en-IN" sz="1200" dirty="0"/>
              <a:t>        {}</a:t>
            </a:r>
          </a:p>
          <a:p>
            <a:pPr marL="0" indent="0">
              <a:buNone/>
            </a:pPr>
            <a:r>
              <a:rPr lang="en-IN" sz="1200" dirty="0"/>
              <a:t>        </a:t>
            </a:r>
            <a:r>
              <a:rPr lang="en-IN" sz="1200" dirty="0" err="1"/>
              <a:t>Concat</a:t>
            </a:r>
            <a:r>
              <a:rPr lang="en-IN" sz="1200" dirty="0"/>
              <a:t>(char str[20])</a:t>
            </a:r>
          </a:p>
          <a:p>
            <a:pPr marL="0" indent="0">
              <a:buNone/>
            </a:pPr>
            <a:r>
              <a:rPr lang="en-IN" sz="1200" dirty="0"/>
              <a:t>        {   </a:t>
            </a:r>
            <a:r>
              <a:rPr lang="en-IN" sz="1200" dirty="0" err="1"/>
              <a:t>strcpy</a:t>
            </a:r>
            <a:r>
              <a:rPr lang="en-IN" sz="1200" dirty="0"/>
              <a:t>(this-&gt;</a:t>
            </a:r>
            <a:r>
              <a:rPr lang="en-IN" sz="1200" dirty="0" err="1"/>
              <a:t>str,str</a:t>
            </a:r>
            <a:r>
              <a:rPr lang="en-IN" sz="1200" dirty="0"/>
              <a:t>); }</a:t>
            </a:r>
          </a:p>
          <a:p>
            <a:pPr marL="0" indent="0">
              <a:buNone/>
            </a:pPr>
            <a:r>
              <a:rPr lang="en-IN" sz="1200" dirty="0"/>
              <a:t>        void display()</a:t>
            </a:r>
          </a:p>
          <a:p>
            <a:pPr marL="0" indent="0">
              <a:buNone/>
            </a:pPr>
            <a:r>
              <a:rPr lang="en-IN" sz="1200" dirty="0"/>
              <a:t>        {  </a:t>
            </a:r>
            <a:r>
              <a:rPr lang="en-IN" sz="1200" dirty="0" err="1"/>
              <a:t>cout</a:t>
            </a:r>
            <a:r>
              <a:rPr lang="en-IN" sz="1200" dirty="0"/>
              <a:t>&lt;&lt;str;</a:t>
            </a:r>
          </a:p>
          <a:p>
            <a:pPr marL="0" indent="0">
              <a:buNone/>
            </a:pPr>
            <a:r>
              <a:rPr lang="en-IN" sz="1200" dirty="0"/>
              <a:t>  }</a:t>
            </a:r>
          </a:p>
          <a:p>
            <a:pPr marL="0" indent="0">
              <a:buNone/>
            </a:pPr>
            <a:r>
              <a:rPr lang="en-IN" sz="1200" dirty="0"/>
              <a:t>   friend </a:t>
            </a:r>
            <a:r>
              <a:rPr lang="en-IN" sz="1200" dirty="0" err="1"/>
              <a:t>Concat</a:t>
            </a:r>
            <a:r>
              <a:rPr lang="en-IN" sz="1200" dirty="0"/>
              <a:t> operator+(</a:t>
            </a:r>
            <a:r>
              <a:rPr lang="en-IN" sz="1200" dirty="0" err="1"/>
              <a:t>Concat</a:t>
            </a:r>
            <a:r>
              <a:rPr lang="en-IN" sz="1200" dirty="0"/>
              <a:t> s1, </a:t>
            </a:r>
            <a:r>
              <a:rPr lang="en-IN" sz="1200" dirty="0" err="1"/>
              <a:t>Concat</a:t>
            </a:r>
            <a:r>
              <a:rPr lang="en-IN" sz="1200" dirty="0"/>
              <a:t> s2)</a:t>
            </a:r>
          </a:p>
          <a:p>
            <a:pPr marL="0" indent="0">
              <a:buNone/>
            </a:pPr>
            <a:r>
              <a:rPr lang="en-IN" sz="1200" dirty="0"/>
              <a:t>        {</a:t>
            </a:r>
          </a:p>
          <a:p>
            <a:pPr marL="0" indent="0">
              <a:buNone/>
            </a:pPr>
            <a:r>
              <a:rPr lang="en-IN" sz="1200" dirty="0"/>
              <a:t>                </a:t>
            </a:r>
            <a:r>
              <a:rPr lang="en-IN" sz="1200" dirty="0" err="1"/>
              <a:t>Concat</a:t>
            </a:r>
            <a:r>
              <a:rPr lang="en-IN" sz="1200" dirty="0"/>
              <a:t> s3;</a:t>
            </a:r>
          </a:p>
          <a:p>
            <a:pPr marL="0" indent="0">
              <a:buNone/>
            </a:pPr>
            <a:r>
              <a:rPr lang="en-IN" sz="1200" dirty="0"/>
              <a:t>                </a:t>
            </a:r>
            <a:r>
              <a:rPr lang="en-IN" sz="1200" dirty="0" err="1"/>
              <a:t>strcat</a:t>
            </a:r>
            <a:r>
              <a:rPr lang="en-IN" sz="1200" dirty="0"/>
              <a:t>(s1.str,s2.str);</a:t>
            </a:r>
          </a:p>
          <a:p>
            <a:pPr marL="0" indent="0">
              <a:buNone/>
            </a:pPr>
            <a:r>
              <a:rPr lang="en-IN" sz="1200" dirty="0"/>
              <a:t>                </a:t>
            </a:r>
            <a:r>
              <a:rPr lang="en-IN" sz="1200" dirty="0" err="1"/>
              <a:t>strcpy</a:t>
            </a:r>
            <a:r>
              <a:rPr lang="en-IN" sz="1200" dirty="0"/>
              <a:t>(s3.str,s1.str);</a:t>
            </a:r>
          </a:p>
          <a:p>
            <a:pPr marL="0" indent="0">
              <a:buNone/>
            </a:pPr>
            <a:r>
              <a:rPr lang="en-IN" sz="1200" dirty="0"/>
              <a:t>                return s3;</a:t>
            </a:r>
          </a:p>
          <a:p>
            <a:pPr marL="0" indent="0">
              <a:buNone/>
            </a:pPr>
            <a:r>
              <a:rPr lang="en-IN" sz="1200" dirty="0"/>
              <a:t>        }</a:t>
            </a:r>
          </a:p>
          <a:p>
            <a:pPr marL="0" indent="0">
              <a:buNone/>
            </a:pPr>
            <a:r>
              <a:rPr lang="en-IN" sz="1200" dirty="0"/>
              <a:t>};</a:t>
            </a:r>
            <a:br>
              <a:rPr lang="en-IN" sz="1200" dirty="0"/>
            </a:b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7BD41-8565-1355-F7CA-28C5B7284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Deepali Sonawane, </a:t>
            </a:r>
            <a:r>
              <a:rPr lang="en-US" dirty="0" err="1"/>
              <a:t>DoCSA</a:t>
            </a:r>
            <a:r>
              <a:rPr lang="en-US" dirty="0"/>
              <a:t>, MIT-WPU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10972FE-12D0-1F49-2B51-0A3E6E51E682}"/>
              </a:ext>
            </a:extLst>
          </p:cNvPr>
          <p:cNvSpPr txBox="1">
            <a:spLocks/>
          </p:cNvSpPr>
          <p:nvPr/>
        </p:nvSpPr>
        <p:spPr>
          <a:xfrm>
            <a:off x="6290388" y="1366222"/>
            <a:ext cx="4592216" cy="4969263"/>
          </a:xfrm>
          <a:prstGeom prst="rect">
            <a:avLst/>
          </a:prstGeom>
        </p:spPr>
        <p:txBody>
          <a:bodyPr vert="horz">
            <a:normAutofit fontScale="77500" lnSpcReduction="20000"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Concat</a:t>
            </a:r>
            <a:r>
              <a:rPr lang="en-IN" dirty="0"/>
              <a:t> s1("MIT-"),s2("WPU"),s3;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cout</a:t>
            </a:r>
            <a:r>
              <a:rPr lang="en-IN" dirty="0"/>
              <a:t>&lt;&lt;"\</a:t>
            </a:r>
            <a:r>
              <a:rPr lang="en-IN" dirty="0" err="1"/>
              <a:t>nString</a:t>
            </a:r>
            <a:r>
              <a:rPr lang="en-IN" dirty="0"/>
              <a:t> 1 : ";</a:t>
            </a:r>
          </a:p>
          <a:p>
            <a:pPr marL="0" indent="0">
              <a:buNone/>
            </a:pPr>
            <a:r>
              <a:rPr lang="en-IN" dirty="0"/>
              <a:t>        s1.display();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cout</a:t>
            </a:r>
            <a:r>
              <a:rPr lang="en-IN" dirty="0"/>
              <a:t>&lt;&lt;"\</a:t>
            </a:r>
            <a:r>
              <a:rPr lang="en-IN" dirty="0" err="1"/>
              <a:t>nString</a:t>
            </a:r>
            <a:r>
              <a:rPr lang="en-IN" dirty="0"/>
              <a:t> 2 : ";</a:t>
            </a:r>
          </a:p>
          <a:p>
            <a:pPr marL="0" indent="0">
              <a:buNone/>
            </a:pPr>
            <a:r>
              <a:rPr lang="en-IN" dirty="0"/>
              <a:t>        s2.display();   </a:t>
            </a:r>
          </a:p>
          <a:p>
            <a:pPr marL="0" indent="0">
              <a:buNone/>
            </a:pPr>
            <a:r>
              <a:rPr lang="en-IN" dirty="0"/>
              <a:t>        s3=s1+s2;//operator+(s1,s2);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cout</a:t>
            </a:r>
            <a:r>
              <a:rPr lang="en-IN" dirty="0"/>
              <a:t>&lt;&lt;"\</a:t>
            </a:r>
            <a:r>
              <a:rPr lang="en-IN" dirty="0" err="1"/>
              <a:t>nAnswer</a:t>
            </a:r>
            <a:r>
              <a:rPr lang="en-IN" dirty="0"/>
              <a:t> : ";</a:t>
            </a:r>
          </a:p>
          <a:p>
            <a:pPr marL="0" indent="0">
              <a:buNone/>
            </a:pPr>
            <a:r>
              <a:rPr lang="en-IN" dirty="0"/>
              <a:t>        s3.display();     </a:t>
            </a:r>
          </a:p>
          <a:p>
            <a:pPr marL="0" indent="0">
              <a:buNone/>
            </a:pPr>
            <a:r>
              <a:rPr lang="en-IN" dirty="0"/>
              <a:t>       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br>
              <a:rPr lang="en-IN" dirty="0"/>
            </a:br>
            <a:endParaRPr lang="en-IN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901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8974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“this” pointer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366223"/>
            <a:ext cx="10515600" cy="511295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function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called, it is automatically passed an implicit argument that is a pointer to the invoking object i.e. the object on which the function is called. This pointer is called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CPP keeps only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copy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each member function and data members are allocated memory for all of their instances. These kind of various instances of data are maintained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pointer.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pointer is initialized to point to the object for which the member function is invoked.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pointer is most useful when working with pointers and especially with linked list when you need to reference a pointer.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F309C9-9213-1242-3523-9ED7796E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2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8974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for “this” pointer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366223"/>
            <a:ext cx="10515600" cy="5112954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definition in class: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operator&gt;(Number num)// Member function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if(n &gt;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num.n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)//100 &gt; 50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*this;//n1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num;//n2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call in main():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Number n1(10), n2(30);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n3 = n1&gt;n2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//operator function call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9D47BB-23FA-06C1-5449-2CF2F72C3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23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897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Overloading of Increment and Decrement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366223"/>
            <a:ext cx="10515600" cy="511295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 and decrement operators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fall into a special category because there are two variants of each: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Pre increment and post increment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Pre decrement and post decrement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distinguish between the two, the following rule is observed.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 The prefix form of the operator is declared exactly the same way as any other unary operator.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2. The postfix form accepts an additional argument of type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specifying any other type generates an error.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95857-DBDF-1F8A-4D35-166DC5AC8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23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0B142-7731-BF22-4A23-52F465555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29C16-5F6D-40B5-FFF7-FA9E9CC57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897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for Overloading of Increment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B6AD2-58BE-715E-D017-52E23EADF88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366223"/>
            <a:ext cx="4685522" cy="511295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class Demo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        int </a:t>
            </a:r>
            <a:r>
              <a:rPr lang="en-IN" dirty="0" err="1"/>
              <a:t>num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        public:</a:t>
            </a:r>
          </a:p>
          <a:p>
            <a:pPr marL="0" indent="0">
              <a:buNone/>
            </a:pPr>
            <a:r>
              <a:rPr lang="en-IN" dirty="0"/>
              <a:t>        Demo(int </a:t>
            </a:r>
            <a:r>
              <a:rPr lang="en-IN" dirty="0" err="1"/>
              <a:t>num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        {                this-&gt;</a:t>
            </a:r>
            <a:r>
              <a:rPr lang="en-IN" dirty="0" err="1"/>
              <a:t>num</a:t>
            </a:r>
            <a:r>
              <a:rPr lang="en-IN" dirty="0"/>
              <a:t>=</a:t>
            </a:r>
            <a:r>
              <a:rPr lang="en-IN" dirty="0" err="1"/>
              <a:t>num</a:t>
            </a:r>
            <a:r>
              <a:rPr lang="en-IN" dirty="0"/>
              <a:t>; }</a:t>
            </a:r>
          </a:p>
          <a:p>
            <a:pPr marL="0" indent="0">
              <a:buNone/>
            </a:pPr>
            <a:r>
              <a:rPr lang="en-IN" dirty="0"/>
              <a:t>        void display()</a:t>
            </a:r>
          </a:p>
          <a:p>
            <a:pPr marL="0" indent="0">
              <a:buNone/>
            </a:pPr>
            <a:r>
              <a:rPr lang="en-IN" dirty="0"/>
              <a:t>        {   </a:t>
            </a:r>
            <a:r>
              <a:rPr lang="en-IN" dirty="0" err="1"/>
              <a:t>cout</a:t>
            </a:r>
            <a:r>
              <a:rPr lang="en-IN" dirty="0"/>
              <a:t>&lt;&lt;</a:t>
            </a:r>
            <a:r>
              <a:rPr lang="en-IN" dirty="0" err="1"/>
              <a:t>num</a:t>
            </a:r>
            <a:r>
              <a:rPr lang="en-IN" dirty="0"/>
              <a:t>; }</a:t>
            </a:r>
          </a:p>
          <a:p>
            <a:pPr marL="0" indent="0">
              <a:buNone/>
            </a:pPr>
            <a:r>
              <a:rPr lang="en-IN" dirty="0"/>
              <a:t>        void operator++()// </a:t>
            </a:r>
            <a:r>
              <a:rPr lang="en-IN" dirty="0" err="1"/>
              <a:t>Preincrement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        {</a:t>
            </a:r>
          </a:p>
          <a:p>
            <a:pPr marL="0" indent="0">
              <a:buNone/>
            </a:pPr>
            <a:r>
              <a:rPr lang="en-IN" dirty="0"/>
              <a:t>                ++</a:t>
            </a:r>
            <a:r>
              <a:rPr lang="en-IN" dirty="0" err="1"/>
              <a:t>num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        }</a:t>
            </a:r>
          </a:p>
          <a:p>
            <a:pPr marL="0" indent="0">
              <a:buNone/>
            </a:pPr>
            <a:r>
              <a:rPr lang="en-IN" dirty="0"/>
              <a:t>        void operator++(int)// </a:t>
            </a:r>
            <a:r>
              <a:rPr lang="en-IN" dirty="0" err="1"/>
              <a:t>Postincrement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        {</a:t>
            </a:r>
          </a:p>
          <a:p>
            <a:pPr marL="0" indent="0">
              <a:buNone/>
            </a:pPr>
            <a:r>
              <a:rPr lang="en-IN" dirty="0"/>
              <a:t>                </a:t>
            </a:r>
            <a:r>
              <a:rPr lang="en-IN" dirty="0" err="1"/>
              <a:t>num</a:t>
            </a:r>
            <a:r>
              <a:rPr lang="en-IN" dirty="0"/>
              <a:t>++;</a:t>
            </a:r>
          </a:p>
          <a:p>
            <a:pPr marL="0" indent="0">
              <a:buNone/>
            </a:pPr>
            <a:r>
              <a:rPr lang="en-IN" dirty="0"/>
              <a:t>        }</a:t>
            </a:r>
          </a:p>
          <a:p>
            <a:pPr marL="0" indent="0">
              <a:buNone/>
            </a:pPr>
            <a:r>
              <a:rPr lang="en-IN" dirty="0"/>
              <a:t>};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87F81B-36EE-9895-C143-F199A5A8F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3D1EC0-D38A-2F48-CC2B-FD32D1F27CFD}"/>
              </a:ext>
            </a:extLst>
          </p:cNvPr>
          <p:cNvSpPr txBox="1">
            <a:spLocks/>
          </p:cNvSpPr>
          <p:nvPr/>
        </p:nvSpPr>
        <p:spPr>
          <a:xfrm>
            <a:off x="5767873" y="1212735"/>
            <a:ext cx="6072674" cy="5112954"/>
          </a:xfrm>
          <a:prstGeom prst="rect">
            <a:avLst/>
          </a:prstGeom>
        </p:spPr>
        <p:txBody>
          <a:bodyPr vert="horz">
            <a:normAutofit fontScale="85000" lnSpcReduction="10000"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        Demo d(10);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cout</a:t>
            </a:r>
            <a:r>
              <a:rPr lang="en-IN" dirty="0"/>
              <a:t>&lt;&lt;"\</a:t>
            </a:r>
            <a:r>
              <a:rPr lang="en-IN" dirty="0" err="1"/>
              <a:t>nBefore</a:t>
            </a:r>
            <a:r>
              <a:rPr lang="en-IN" dirty="0"/>
              <a:t> Overloading Value of number is ";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d.display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        ++d;//</a:t>
            </a:r>
            <a:r>
              <a:rPr lang="en-IN" dirty="0" err="1"/>
              <a:t>d.operator</a:t>
            </a:r>
            <a:r>
              <a:rPr lang="en-IN" dirty="0"/>
              <a:t>++();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cout</a:t>
            </a:r>
            <a:r>
              <a:rPr lang="en-IN" dirty="0"/>
              <a:t>&lt;&lt;"\</a:t>
            </a:r>
            <a:r>
              <a:rPr lang="en-IN" dirty="0" err="1"/>
              <a:t>nAfter</a:t>
            </a:r>
            <a:r>
              <a:rPr lang="en-IN" dirty="0"/>
              <a:t> Overloading Value of number is ";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d.display</a:t>
            </a:r>
            <a:r>
              <a:rPr lang="en-IN" dirty="0"/>
              <a:t>();    </a:t>
            </a:r>
          </a:p>
          <a:p>
            <a:pPr marL="0" indent="0">
              <a:buNone/>
            </a:pPr>
            <a:r>
              <a:rPr lang="en-IN" dirty="0"/>
              <a:t>        d++;//</a:t>
            </a:r>
            <a:r>
              <a:rPr lang="en-IN" dirty="0" err="1"/>
              <a:t>d.operator</a:t>
            </a:r>
            <a:r>
              <a:rPr lang="en-IN" dirty="0"/>
              <a:t>++(int)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cout</a:t>
            </a:r>
            <a:r>
              <a:rPr lang="en-IN" dirty="0"/>
              <a:t>&lt;&lt;"\</a:t>
            </a:r>
            <a:r>
              <a:rPr lang="en-IN" dirty="0" err="1"/>
              <a:t>nAfter</a:t>
            </a:r>
            <a:r>
              <a:rPr lang="en-IN" dirty="0"/>
              <a:t> Overloading Value of number is ";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d.display</a:t>
            </a:r>
            <a:r>
              <a:rPr lang="en-IN" dirty="0"/>
              <a:t>();    </a:t>
            </a:r>
          </a:p>
          <a:p>
            <a:pPr marL="0" indent="0">
              <a:buNone/>
            </a:pPr>
            <a:r>
              <a:rPr lang="en-IN" dirty="0"/>
              <a:t>       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Font typeface="Wingdings 2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65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56692" y="2495228"/>
            <a:ext cx="10078616" cy="1227686"/>
          </a:xfrm>
        </p:spPr>
        <p:txBody>
          <a:bodyPr>
            <a:normAutofit fontScale="85000" lnSpcReduction="20000"/>
          </a:bodyPr>
          <a:lstStyle/>
          <a:p>
            <a:pPr marL="0" indent="0" algn="ctr" fontAlgn="base">
              <a:buNone/>
            </a:pPr>
            <a:r>
              <a:rPr lang="en-US" sz="9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US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4BAD0-0BE2-4E89-A73D-1D697ECC4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Deepali Sonawane, DoCSA, MIT-WPU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531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4510</TotalTime>
  <Words>1305</Words>
  <Application>Microsoft Office PowerPoint</Application>
  <PresentationFormat>Widescreen</PresentationFormat>
  <Paragraphs>188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Franklin Gothic Book</vt:lpstr>
      <vt:lpstr>Perpetua</vt:lpstr>
      <vt:lpstr>Times New Roman</vt:lpstr>
      <vt:lpstr>Wingdings 2</vt:lpstr>
      <vt:lpstr>Equity</vt:lpstr>
      <vt:lpstr>Operator Overloading</vt:lpstr>
      <vt:lpstr>Introduction</vt:lpstr>
      <vt:lpstr>List of operators that can not be overloaded</vt:lpstr>
      <vt:lpstr>Overloading of Unary Minus(-) Operator</vt:lpstr>
      <vt:lpstr>Overloading of Unary Minus(-) Operator</vt:lpstr>
      <vt:lpstr>Overloading of Binary Operator</vt:lpstr>
      <vt:lpstr>Overloading of Binary + Operator on Integer</vt:lpstr>
      <vt:lpstr>Overloading of Binary + Operator on String</vt:lpstr>
      <vt:lpstr>“this” pointer</vt:lpstr>
      <vt:lpstr>Example for “this” pointer</vt:lpstr>
      <vt:lpstr>Overloading of Increment and Decrement operator</vt:lpstr>
      <vt:lpstr>Example for Overloading of Increment Operator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 Technologies</dc:title>
  <dc:creator>Deepali Sonawane</dc:creator>
  <cp:lastModifiedBy>Deepali Sonawane</cp:lastModifiedBy>
  <cp:revision>1321</cp:revision>
  <dcterms:created xsi:type="dcterms:W3CDTF">2018-07-09T09:07:27Z</dcterms:created>
  <dcterms:modified xsi:type="dcterms:W3CDTF">2026-04-04T17:39:22Z</dcterms:modified>
</cp:coreProperties>
</file>